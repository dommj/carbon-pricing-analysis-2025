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121A8-5191-45EE-8D8F-51A0AE04A053}" v="1" dt="2025-06-18T01:37:53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/>
    <p:restoredTop sz="94653"/>
  </p:normalViewPr>
  <p:slideViewPr>
    <p:cSldViewPr snapToGrid="0" snapToObjects="1">
      <p:cViewPr varScale="1">
        <p:scale>
          <a:sx n="100" d="100"/>
          <a:sy n="100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Jones" userId="8a7bc671-a4ae-414f-b318-851f1451f1f7" providerId="ADAL" clId="{21E121A8-5191-45EE-8D8F-51A0AE04A053}"/>
    <pc:docChg chg="undo custSel modSld">
      <pc:chgData name="Dominic Jones" userId="8a7bc671-a4ae-414f-b318-851f1451f1f7" providerId="ADAL" clId="{21E121A8-5191-45EE-8D8F-51A0AE04A053}" dt="2025-06-18T01:41:36.860" v="290" actId="20577"/>
      <pc:docMkLst>
        <pc:docMk/>
      </pc:docMkLst>
      <pc:sldChg chg="addSp delSp modSp mod">
        <pc:chgData name="Dominic Jones" userId="8a7bc671-a4ae-414f-b318-851f1451f1f7" providerId="ADAL" clId="{21E121A8-5191-45EE-8D8F-51A0AE04A053}" dt="2025-06-18T01:41:36.860" v="290" actId="20577"/>
        <pc:sldMkLst>
          <pc:docMk/>
          <pc:sldMk cId="0" sldId="256"/>
        </pc:sldMkLst>
        <pc:spChg chg="mod">
          <ac:chgData name="Dominic Jones" userId="8a7bc671-a4ae-414f-b318-851f1451f1f7" providerId="ADAL" clId="{21E121A8-5191-45EE-8D8F-51A0AE04A053}" dt="2025-06-18T01:41:36.860" v="290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ominic Jones" userId="8a7bc671-a4ae-414f-b318-851f1451f1f7" providerId="ADAL" clId="{21E121A8-5191-45EE-8D8F-51A0AE04A053}" dt="2025-06-18T01:38:33.760" v="241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Dominic Jones" userId="8a7bc671-a4ae-414f-b318-851f1451f1f7" providerId="ADAL" clId="{21E121A8-5191-45EE-8D8F-51A0AE04A053}" dt="2025-06-18T01:40:18.943" v="252" actId="1076"/>
          <ac:spMkLst>
            <pc:docMk/>
            <pc:sldMk cId="0" sldId="256"/>
            <ac:spMk id="15" creationId="{00000000-0000-0000-0000-000000000000}"/>
          </ac:spMkLst>
        </pc:spChg>
        <pc:spChg chg="del">
          <ac:chgData name="Dominic Jones" userId="8a7bc671-a4ae-414f-b318-851f1451f1f7" providerId="ADAL" clId="{21E121A8-5191-45EE-8D8F-51A0AE04A053}" dt="2025-06-18T01:33:50.269" v="1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Dominic Jones" userId="8a7bc671-a4ae-414f-b318-851f1451f1f7" providerId="ADAL" clId="{21E121A8-5191-45EE-8D8F-51A0AE04A053}" dt="2025-06-18T01:40:29.605" v="254" actId="1076"/>
          <ac:spMkLst>
            <pc:docMk/>
            <pc:sldMk cId="0" sldId="256"/>
            <ac:spMk id="18" creationId="{00000000-0000-0000-0000-000000000000}"/>
          </ac:spMkLst>
        </pc:spChg>
        <pc:spChg chg="del mod">
          <ac:chgData name="Dominic Jones" userId="8a7bc671-a4ae-414f-b318-851f1451f1f7" providerId="ADAL" clId="{21E121A8-5191-45EE-8D8F-51A0AE04A053}" dt="2025-06-18T01:35:32.564" v="124" actId="47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Dominic Jones" userId="8a7bc671-a4ae-414f-b318-851f1451f1f7" providerId="ADAL" clId="{21E121A8-5191-45EE-8D8F-51A0AE04A053}" dt="2025-06-18T01:40:02.916" v="250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Dominic Jones" userId="8a7bc671-a4ae-414f-b318-851f1451f1f7" providerId="ADAL" clId="{21E121A8-5191-45EE-8D8F-51A0AE04A053}" dt="2025-06-18T01:40:46.446" v="256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Dominic Jones" userId="8a7bc671-a4ae-414f-b318-851f1451f1f7" providerId="ADAL" clId="{21E121A8-5191-45EE-8D8F-51A0AE04A053}" dt="2025-06-18T01:41:07.174" v="278" actId="20577"/>
          <ac:spMkLst>
            <pc:docMk/>
            <pc:sldMk cId="0" sldId="256"/>
            <ac:spMk id="53" creationId="{00000000-0000-0000-0000-000000000000}"/>
          </ac:spMkLst>
        </pc:spChg>
        <pc:spChg chg="add mod">
          <ac:chgData name="Dominic Jones" userId="8a7bc671-a4ae-414f-b318-851f1451f1f7" providerId="ADAL" clId="{21E121A8-5191-45EE-8D8F-51A0AE04A053}" dt="2025-06-18T01:40:42.211" v="255" actId="1076"/>
          <ac:spMkLst>
            <pc:docMk/>
            <pc:sldMk cId="0" sldId="256"/>
            <ac:spMk id="55" creationId="{AC05094A-9CC7-CA4A-5772-1D6F15EE6E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
Powerpoint file location: C:\Users\domijones\OneDrive - The University of Melbourne\Energy\Analysis\analysis_cp_dj_2025\test_savings_fullslide.pptx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6/18/2025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6/18/2025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6/18/2025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18/06/2025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 dirty="0" err="1"/>
              <a:t>Annualised</a:t>
            </a:r>
            <a:r>
              <a:rPr dirty="0"/>
              <a:t> total energy costs</a:t>
            </a:r>
            <a:r>
              <a:rPr lang="en-AU" dirty="0"/>
              <a:t> in</a:t>
            </a:r>
            <a:r>
              <a:rPr dirty="0"/>
              <a:t>, 2025-2034</a:t>
            </a:r>
          </a:p>
        </p:txBody>
      </p:sp>
      <p:grpSp>
        <p:nvGrpSpPr>
          <p:cNvPr id="3" name="Content Placeholder 3"/>
          <p:cNvGrpSpPr/>
          <p:nvPr/>
        </p:nvGrpSpPr>
        <p:grpSpPr>
          <a:xfrm>
            <a:off x="371475" y="1808162"/>
            <a:ext cx="11823127" cy="4284662"/>
            <a:chOff x="371475" y="1808162"/>
            <a:chExt cx="11823127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974749" y="1899602"/>
              <a:ext cx="9699535" cy="3592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5"/>
            <p:cNvSpPr/>
            <p:nvPr/>
          </p:nvSpPr>
          <p:spPr>
            <a:xfrm>
              <a:off x="1974749" y="1899602"/>
              <a:ext cx="0" cy="3592021"/>
            </a:xfrm>
            <a:custGeom>
              <a:avLst/>
              <a:gdLst/>
              <a:ahLst/>
              <a:cxnLst/>
              <a:rect l="0" t="0" r="0" b="0"/>
              <a:pathLst>
                <a:path h="3592021">
                  <a:moveTo>
                    <a:pt x="0" y="35920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6"/>
            <p:cNvSpPr/>
            <p:nvPr/>
          </p:nvSpPr>
          <p:spPr>
            <a:xfrm>
              <a:off x="4914002" y="1899602"/>
              <a:ext cx="0" cy="3592021"/>
            </a:xfrm>
            <a:custGeom>
              <a:avLst/>
              <a:gdLst/>
              <a:ahLst/>
              <a:cxnLst/>
              <a:rect l="0" t="0" r="0" b="0"/>
              <a:pathLst>
                <a:path h="3592021">
                  <a:moveTo>
                    <a:pt x="0" y="35920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7"/>
            <p:cNvSpPr/>
            <p:nvPr/>
          </p:nvSpPr>
          <p:spPr>
            <a:xfrm>
              <a:off x="7853255" y="1899602"/>
              <a:ext cx="0" cy="3592021"/>
            </a:xfrm>
            <a:custGeom>
              <a:avLst/>
              <a:gdLst/>
              <a:ahLst/>
              <a:cxnLst/>
              <a:rect l="0" t="0" r="0" b="0"/>
              <a:pathLst>
                <a:path h="3592021">
                  <a:moveTo>
                    <a:pt x="0" y="35920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8"/>
            <p:cNvSpPr/>
            <p:nvPr/>
          </p:nvSpPr>
          <p:spPr>
            <a:xfrm>
              <a:off x="10792509" y="1899602"/>
              <a:ext cx="0" cy="3592021"/>
            </a:xfrm>
            <a:custGeom>
              <a:avLst/>
              <a:gdLst/>
              <a:ahLst/>
              <a:cxnLst/>
              <a:rect l="0" t="0" r="0" b="0"/>
              <a:pathLst>
                <a:path h="3592021">
                  <a:moveTo>
                    <a:pt x="0" y="35920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9"/>
            <p:cNvSpPr/>
            <p:nvPr/>
          </p:nvSpPr>
          <p:spPr>
            <a:xfrm>
              <a:off x="3218831" y="5179274"/>
              <a:ext cx="6421616" cy="0"/>
            </a:xfrm>
            <a:custGeom>
              <a:avLst/>
              <a:gdLst/>
              <a:ahLst/>
              <a:cxnLst/>
              <a:rect l="0" t="0" r="0" b="0"/>
              <a:pathLst>
                <a:path w="6421616">
                  <a:moveTo>
                    <a:pt x="0" y="0"/>
                  </a:moveTo>
                  <a:lnTo>
                    <a:pt x="1234238" y="0"/>
                  </a:lnTo>
                  <a:lnTo>
                    <a:pt x="3828358" y="0"/>
                  </a:lnTo>
                  <a:lnTo>
                    <a:pt x="6421616" y="0"/>
                  </a:lnTo>
                </a:path>
              </a:pathLst>
            </a:custGeom>
            <a:ln w="13550" cap="flat">
              <a:solidFill>
                <a:srgbClr val="575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0"/>
            <p:cNvSpPr/>
            <p:nvPr/>
          </p:nvSpPr>
          <p:spPr>
            <a:xfrm>
              <a:off x="3828311" y="4398400"/>
              <a:ext cx="5559592" cy="0"/>
            </a:xfrm>
            <a:custGeom>
              <a:avLst/>
              <a:gdLst/>
              <a:ahLst/>
              <a:cxnLst/>
              <a:rect l="0" t="0" r="0" b="0"/>
              <a:pathLst>
                <a:path w="5559592">
                  <a:moveTo>
                    <a:pt x="0" y="0"/>
                  </a:moveTo>
                  <a:lnTo>
                    <a:pt x="1013761" y="0"/>
                  </a:lnTo>
                  <a:lnTo>
                    <a:pt x="2983510" y="0"/>
                  </a:lnTo>
                  <a:lnTo>
                    <a:pt x="5559592" y="0"/>
                  </a:lnTo>
                </a:path>
              </a:pathLst>
            </a:custGeom>
            <a:ln w="13550" cap="flat">
              <a:solidFill>
                <a:srgbClr val="575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1"/>
            <p:cNvSpPr/>
            <p:nvPr/>
          </p:nvSpPr>
          <p:spPr>
            <a:xfrm>
              <a:off x="3654139" y="3617526"/>
              <a:ext cx="6187889" cy="0"/>
            </a:xfrm>
            <a:custGeom>
              <a:avLst/>
              <a:gdLst/>
              <a:ahLst/>
              <a:cxnLst/>
              <a:rect l="0" t="0" r="0" b="0"/>
              <a:pathLst>
                <a:path w="6187889">
                  <a:moveTo>
                    <a:pt x="0" y="0"/>
                  </a:moveTo>
                  <a:lnTo>
                    <a:pt x="1311928" y="0"/>
                  </a:lnTo>
                  <a:lnTo>
                    <a:pt x="3475991" y="0"/>
                  </a:lnTo>
                  <a:lnTo>
                    <a:pt x="6187889" y="0"/>
                  </a:lnTo>
                </a:path>
              </a:pathLst>
            </a:custGeom>
            <a:ln w="13550" cap="flat">
              <a:solidFill>
                <a:srgbClr val="575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2"/>
            <p:cNvSpPr/>
            <p:nvPr/>
          </p:nvSpPr>
          <p:spPr>
            <a:xfrm>
              <a:off x="4125503" y="2836652"/>
              <a:ext cx="6258961" cy="0"/>
            </a:xfrm>
            <a:custGeom>
              <a:avLst/>
              <a:gdLst/>
              <a:ahLst/>
              <a:cxnLst/>
              <a:rect l="0" t="0" r="0" b="0"/>
              <a:pathLst>
                <a:path w="6258961">
                  <a:moveTo>
                    <a:pt x="0" y="0"/>
                  </a:moveTo>
                  <a:lnTo>
                    <a:pt x="1417712" y="0"/>
                  </a:lnTo>
                  <a:lnTo>
                    <a:pt x="3404822" y="0"/>
                  </a:lnTo>
                  <a:lnTo>
                    <a:pt x="6258961" y="0"/>
                  </a:lnTo>
                </a:path>
              </a:pathLst>
            </a:custGeom>
            <a:ln w="13550" cap="flat">
              <a:solidFill>
                <a:srgbClr val="575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3692338" y="2050385"/>
              <a:ext cx="867800" cy="479309"/>
            </a:xfrm>
            <a:custGeom>
              <a:avLst/>
              <a:gdLst/>
              <a:ahLst/>
              <a:cxnLst/>
              <a:rect l="0" t="0" r="0" b="0"/>
              <a:pathLst>
                <a:path w="867800" h="479309">
                  <a:moveTo>
                    <a:pt x="41148" y="479309"/>
                  </a:moveTo>
                  <a:lnTo>
                    <a:pt x="826652" y="479309"/>
                  </a:lnTo>
                  <a:lnTo>
                    <a:pt x="824995" y="479276"/>
                  </a:lnTo>
                  <a:lnTo>
                    <a:pt x="831612" y="479009"/>
                  </a:lnTo>
                  <a:lnTo>
                    <a:pt x="838100" y="477685"/>
                  </a:lnTo>
                  <a:lnTo>
                    <a:pt x="844292" y="475337"/>
                  </a:lnTo>
                  <a:lnTo>
                    <a:pt x="850027" y="472026"/>
                  </a:lnTo>
                  <a:lnTo>
                    <a:pt x="855156" y="467837"/>
                  </a:lnTo>
                  <a:lnTo>
                    <a:pt x="859547" y="462881"/>
                  </a:lnTo>
                  <a:lnTo>
                    <a:pt x="863087" y="457284"/>
                  </a:lnTo>
                  <a:lnTo>
                    <a:pt x="865682" y="451192"/>
                  </a:lnTo>
                  <a:lnTo>
                    <a:pt x="867267" y="444762"/>
                  </a:lnTo>
                  <a:lnTo>
                    <a:pt x="867800" y="438161"/>
                  </a:lnTo>
                  <a:lnTo>
                    <a:pt x="867800" y="41148"/>
                  </a:lnTo>
                  <a:lnTo>
                    <a:pt x="867267" y="34547"/>
                  </a:lnTo>
                  <a:lnTo>
                    <a:pt x="865682" y="28117"/>
                  </a:lnTo>
                  <a:lnTo>
                    <a:pt x="863087" y="22025"/>
                  </a:lnTo>
                  <a:lnTo>
                    <a:pt x="859547" y="16428"/>
                  </a:lnTo>
                  <a:lnTo>
                    <a:pt x="855156" y="11471"/>
                  </a:lnTo>
                  <a:lnTo>
                    <a:pt x="850027" y="7283"/>
                  </a:lnTo>
                  <a:lnTo>
                    <a:pt x="844292" y="3972"/>
                  </a:lnTo>
                  <a:lnTo>
                    <a:pt x="838100" y="1624"/>
                  </a:lnTo>
                  <a:lnTo>
                    <a:pt x="831612" y="300"/>
                  </a:lnTo>
                  <a:lnTo>
                    <a:pt x="826652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438161"/>
                  </a:lnTo>
                  <a:lnTo>
                    <a:pt x="133" y="434850"/>
                  </a:lnTo>
                  <a:lnTo>
                    <a:pt x="133" y="441472"/>
                  </a:lnTo>
                  <a:lnTo>
                    <a:pt x="1195" y="448009"/>
                  </a:lnTo>
                  <a:lnTo>
                    <a:pt x="3292" y="454290"/>
                  </a:lnTo>
                  <a:lnTo>
                    <a:pt x="6370" y="460154"/>
                  </a:lnTo>
                  <a:lnTo>
                    <a:pt x="10348" y="465448"/>
                  </a:lnTo>
                  <a:lnTo>
                    <a:pt x="15124" y="470035"/>
                  </a:lnTo>
                  <a:lnTo>
                    <a:pt x="20574" y="473797"/>
                  </a:lnTo>
                  <a:lnTo>
                    <a:pt x="26556" y="476635"/>
                  </a:lnTo>
                  <a:lnTo>
                    <a:pt x="32917" y="478478"/>
                  </a:lnTo>
                  <a:lnTo>
                    <a:pt x="39491" y="479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" name="tx14"/>
            <p:cNvSpPr/>
            <p:nvPr/>
          </p:nvSpPr>
          <p:spPr>
            <a:xfrm>
              <a:off x="2227067" y="2549054"/>
              <a:ext cx="1726622" cy="692497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spAutoFit/>
            </a:bodyPr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800" dirty="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All electric home with solar and an EV</a:t>
              </a:r>
              <a:endParaRPr sz="1800" dirty="0">
                <a:solidFill>
                  <a:srgbClr val="F5B50C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7" name="pg16"/>
            <p:cNvSpPr/>
            <p:nvPr/>
          </p:nvSpPr>
          <p:spPr>
            <a:xfrm>
              <a:off x="9798713" y="2050385"/>
              <a:ext cx="1172972" cy="479309"/>
            </a:xfrm>
            <a:custGeom>
              <a:avLst/>
              <a:gdLst/>
              <a:ahLst/>
              <a:cxnLst/>
              <a:rect l="0" t="0" r="0" b="0"/>
              <a:pathLst>
                <a:path w="1172972" h="479309">
                  <a:moveTo>
                    <a:pt x="41148" y="479309"/>
                  </a:moveTo>
                  <a:lnTo>
                    <a:pt x="1131824" y="479309"/>
                  </a:lnTo>
                  <a:lnTo>
                    <a:pt x="1130167" y="479276"/>
                  </a:lnTo>
                  <a:lnTo>
                    <a:pt x="1136784" y="479009"/>
                  </a:lnTo>
                  <a:lnTo>
                    <a:pt x="1143272" y="477685"/>
                  </a:lnTo>
                  <a:lnTo>
                    <a:pt x="1149464" y="475337"/>
                  </a:lnTo>
                  <a:lnTo>
                    <a:pt x="1155199" y="472026"/>
                  </a:lnTo>
                  <a:lnTo>
                    <a:pt x="1160328" y="467837"/>
                  </a:lnTo>
                  <a:lnTo>
                    <a:pt x="1164719" y="462881"/>
                  </a:lnTo>
                  <a:lnTo>
                    <a:pt x="1168259" y="457284"/>
                  </a:lnTo>
                  <a:lnTo>
                    <a:pt x="1170854" y="451192"/>
                  </a:lnTo>
                  <a:lnTo>
                    <a:pt x="1172439" y="444762"/>
                  </a:lnTo>
                  <a:lnTo>
                    <a:pt x="1172972" y="438161"/>
                  </a:lnTo>
                  <a:lnTo>
                    <a:pt x="1172972" y="41148"/>
                  </a:lnTo>
                  <a:lnTo>
                    <a:pt x="1172439" y="34547"/>
                  </a:lnTo>
                  <a:lnTo>
                    <a:pt x="1170854" y="28117"/>
                  </a:lnTo>
                  <a:lnTo>
                    <a:pt x="1168259" y="22025"/>
                  </a:lnTo>
                  <a:lnTo>
                    <a:pt x="1164719" y="16428"/>
                  </a:lnTo>
                  <a:lnTo>
                    <a:pt x="1160328" y="11471"/>
                  </a:lnTo>
                  <a:lnTo>
                    <a:pt x="1155199" y="7283"/>
                  </a:lnTo>
                  <a:lnTo>
                    <a:pt x="1149464" y="3972"/>
                  </a:lnTo>
                  <a:lnTo>
                    <a:pt x="1143272" y="1624"/>
                  </a:lnTo>
                  <a:lnTo>
                    <a:pt x="1136784" y="300"/>
                  </a:lnTo>
                  <a:lnTo>
                    <a:pt x="1131824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438161"/>
                  </a:lnTo>
                  <a:lnTo>
                    <a:pt x="133" y="434850"/>
                  </a:lnTo>
                  <a:lnTo>
                    <a:pt x="133" y="441472"/>
                  </a:lnTo>
                  <a:lnTo>
                    <a:pt x="1195" y="448009"/>
                  </a:lnTo>
                  <a:lnTo>
                    <a:pt x="3292" y="454290"/>
                  </a:lnTo>
                  <a:lnTo>
                    <a:pt x="6370" y="460154"/>
                  </a:lnTo>
                  <a:lnTo>
                    <a:pt x="10348" y="465448"/>
                  </a:lnTo>
                  <a:lnTo>
                    <a:pt x="15124" y="470035"/>
                  </a:lnTo>
                  <a:lnTo>
                    <a:pt x="20574" y="473797"/>
                  </a:lnTo>
                  <a:lnTo>
                    <a:pt x="26556" y="476635"/>
                  </a:lnTo>
                  <a:lnTo>
                    <a:pt x="32917" y="478478"/>
                  </a:lnTo>
                  <a:lnTo>
                    <a:pt x="39491" y="479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 useBgFill="1">
          <p:nvSpPr>
            <p:cNvPr id="18" name="tx17"/>
            <p:cNvSpPr/>
            <p:nvPr/>
          </p:nvSpPr>
          <p:spPr>
            <a:xfrm>
              <a:off x="10494952" y="2350163"/>
              <a:ext cx="1699650" cy="923330"/>
            </a:xfrm>
            <a:prstGeom prst="rect">
              <a:avLst/>
            </a:prstGeom>
          </p:spPr>
          <p:txBody>
            <a:bodyPr wrap="square" lIns="0" tIns="0" rIns="0" bIns="0" anchor="ctr" anchorCtr="1">
              <a:spAutoFit/>
            </a:bodyPr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800" dirty="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Gas cooking, heating, and hot water, with a petrol car</a:t>
              </a:r>
              <a:endParaRPr sz="1800" dirty="0">
                <a:solidFill>
                  <a:srgbClr val="A1253E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20" name="pg19"/>
            <p:cNvSpPr/>
            <p:nvPr/>
          </p:nvSpPr>
          <p:spPr>
            <a:xfrm>
              <a:off x="7351155" y="2160113"/>
              <a:ext cx="359812" cy="259853"/>
            </a:xfrm>
            <a:custGeom>
              <a:avLst/>
              <a:gdLst/>
              <a:ahLst/>
              <a:cxnLst/>
              <a:rect l="0" t="0" r="0" b="0"/>
              <a:pathLst>
                <a:path w="359812" h="259853">
                  <a:moveTo>
                    <a:pt x="41148" y="259853"/>
                  </a:moveTo>
                  <a:lnTo>
                    <a:pt x="318664" y="259853"/>
                  </a:lnTo>
                  <a:lnTo>
                    <a:pt x="317007" y="259820"/>
                  </a:lnTo>
                  <a:lnTo>
                    <a:pt x="323624" y="259553"/>
                  </a:lnTo>
                  <a:lnTo>
                    <a:pt x="330112" y="258229"/>
                  </a:lnTo>
                  <a:lnTo>
                    <a:pt x="336304" y="255881"/>
                  </a:lnTo>
                  <a:lnTo>
                    <a:pt x="342039" y="252570"/>
                  </a:lnTo>
                  <a:lnTo>
                    <a:pt x="347169" y="248381"/>
                  </a:lnTo>
                  <a:lnTo>
                    <a:pt x="351560" y="243425"/>
                  </a:lnTo>
                  <a:lnTo>
                    <a:pt x="355099" y="237828"/>
                  </a:lnTo>
                  <a:lnTo>
                    <a:pt x="357695" y="231736"/>
                  </a:lnTo>
                  <a:lnTo>
                    <a:pt x="359279" y="225306"/>
                  </a:lnTo>
                  <a:lnTo>
                    <a:pt x="359812" y="218705"/>
                  </a:lnTo>
                  <a:lnTo>
                    <a:pt x="359812" y="41147"/>
                  </a:lnTo>
                  <a:lnTo>
                    <a:pt x="359279" y="34547"/>
                  </a:lnTo>
                  <a:lnTo>
                    <a:pt x="357695" y="28117"/>
                  </a:lnTo>
                  <a:lnTo>
                    <a:pt x="355099" y="22025"/>
                  </a:lnTo>
                  <a:lnTo>
                    <a:pt x="351560" y="16428"/>
                  </a:lnTo>
                  <a:lnTo>
                    <a:pt x="347169" y="11471"/>
                  </a:lnTo>
                  <a:lnTo>
                    <a:pt x="342039" y="7283"/>
                  </a:lnTo>
                  <a:lnTo>
                    <a:pt x="336304" y="3972"/>
                  </a:lnTo>
                  <a:lnTo>
                    <a:pt x="330112" y="1624"/>
                  </a:lnTo>
                  <a:lnTo>
                    <a:pt x="323624" y="300"/>
                  </a:lnTo>
                  <a:lnTo>
                    <a:pt x="318664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7931209" y="3068461"/>
              <a:ext cx="1473126" cy="461665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spAutoFit/>
            </a:bodyPr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800" dirty="0">
                  <a:latin typeface="Arial"/>
                  <a:cs typeface="Arial"/>
                </a:rPr>
                <a:t>Switch petrol car to an EV</a:t>
              </a:r>
              <a:endParaRPr sz="1800" dirty="0">
                <a:latin typeface="Arial"/>
                <a:cs typeface="Arial"/>
              </a:endParaRPr>
            </a:p>
          </p:txBody>
        </p:sp>
        <p:sp>
          <p:nvSpPr>
            <p:cNvPr id="22" name="pg21"/>
            <p:cNvSpPr/>
            <p:nvPr/>
          </p:nvSpPr>
          <p:spPr>
            <a:xfrm>
              <a:off x="5249688" y="2160113"/>
              <a:ext cx="588524" cy="259853"/>
            </a:xfrm>
            <a:custGeom>
              <a:avLst/>
              <a:gdLst/>
              <a:ahLst/>
              <a:cxnLst/>
              <a:rect l="0" t="0" r="0" b="0"/>
              <a:pathLst>
                <a:path w="588524" h="259853">
                  <a:moveTo>
                    <a:pt x="41148" y="259853"/>
                  </a:moveTo>
                  <a:lnTo>
                    <a:pt x="547376" y="259853"/>
                  </a:lnTo>
                  <a:lnTo>
                    <a:pt x="545719" y="259820"/>
                  </a:lnTo>
                  <a:lnTo>
                    <a:pt x="552336" y="259553"/>
                  </a:lnTo>
                  <a:lnTo>
                    <a:pt x="558824" y="258229"/>
                  </a:lnTo>
                  <a:lnTo>
                    <a:pt x="565016" y="255881"/>
                  </a:lnTo>
                  <a:lnTo>
                    <a:pt x="570751" y="252570"/>
                  </a:lnTo>
                  <a:lnTo>
                    <a:pt x="575880" y="248381"/>
                  </a:lnTo>
                  <a:lnTo>
                    <a:pt x="580271" y="243425"/>
                  </a:lnTo>
                  <a:lnTo>
                    <a:pt x="583811" y="237828"/>
                  </a:lnTo>
                  <a:lnTo>
                    <a:pt x="586406" y="231736"/>
                  </a:lnTo>
                  <a:lnTo>
                    <a:pt x="587991" y="225306"/>
                  </a:lnTo>
                  <a:lnTo>
                    <a:pt x="588524" y="218705"/>
                  </a:lnTo>
                  <a:lnTo>
                    <a:pt x="588524" y="41147"/>
                  </a:lnTo>
                  <a:lnTo>
                    <a:pt x="587991" y="34547"/>
                  </a:lnTo>
                  <a:lnTo>
                    <a:pt x="586406" y="28117"/>
                  </a:lnTo>
                  <a:lnTo>
                    <a:pt x="583811" y="22025"/>
                  </a:lnTo>
                  <a:lnTo>
                    <a:pt x="580271" y="16428"/>
                  </a:lnTo>
                  <a:lnTo>
                    <a:pt x="575880" y="11471"/>
                  </a:lnTo>
                  <a:lnTo>
                    <a:pt x="570751" y="7283"/>
                  </a:lnTo>
                  <a:lnTo>
                    <a:pt x="565016" y="3972"/>
                  </a:lnTo>
                  <a:lnTo>
                    <a:pt x="558824" y="1624"/>
                  </a:lnTo>
                  <a:lnTo>
                    <a:pt x="552336" y="300"/>
                  </a:lnTo>
                  <a:lnTo>
                    <a:pt x="547376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" name="tx22"/>
            <p:cNvSpPr/>
            <p:nvPr/>
          </p:nvSpPr>
          <p:spPr>
            <a:xfrm>
              <a:off x="5741271" y="3956587"/>
              <a:ext cx="533660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800" dirty="0">
                  <a:latin typeface="Arial"/>
                  <a:cs typeface="Arial"/>
                </a:rPr>
                <a:t>Install solar</a:t>
              </a:r>
              <a:endParaRPr sz="1800" dirty="0">
                <a:latin typeface="Arial"/>
                <a:cs typeface="Arial"/>
              </a:endParaRPr>
            </a:p>
          </p:txBody>
        </p:sp>
        <p:sp>
          <p:nvSpPr>
            <p:cNvPr id="24" name="pt23"/>
            <p:cNvSpPr/>
            <p:nvPr/>
          </p:nvSpPr>
          <p:spPr>
            <a:xfrm>
              <a:off x="3769659" y="4339748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4"/>
            <p:cNvSpPr/>
            <p:nvPr/>
          </p:nvSpPr>
          <p:spPr>
            <a:xfrm>
              <a:off x="3160179" y="5120622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5"/>
            <p:cNvSpPr/>
            <p:nvPr/>
          </p:nvSpPr>
          <p:spPr>
            <a:xfrm>
              <a:off x="3595487" y="3558874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6"/>
            <p:cNvSpPr/>
            <p:nvPr/>
          </p:nvSpPr>
          <p:spPr>
            <a:xfrm>
              <a:off x="4066851" y="2778000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7"/>
            <p:cNvSpPr/>
            <p:nvPr/>
          </p:nvSpPr>
          <p:spPr>
            <a:xfrm>
              <a:off x="9329251" y="4339748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8"/>
            <p:cNvSpPr/>
            <p:nvPr/>
          </p:nvSpPr>
          <p:spPr>
            <a:xfrm>
              <a:off x="9581796" y="5120622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29"/>
            <p:cNvSpPr/>
            <p:nvPr/>
          </p:nvSpPr>
          <p:spPr>
            <a:xfrm>
              <a:off x="9783377" y="3558874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0"/>
            <p:cNvSpPr/>
            <p:nvPr/>
          </p:nvSpPr>
          <p:spPr>
            <a:xfrm>
              <a:off x="10325812" y="2778000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1"/>
            <p:cNvSpPr/>
            <p:nvPr/>
          </p:nvSpPr>
          <p:spPr>
            <a:xfrm>
              <a:off x="6753169" y="4339748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2"/>
            <p:cNvSpPr/>
            <p:nvPr/>
          </p:nvSpPr>
          <p:spPr>
            <a:xfrm>
              <a:off x="6988537" y="5120622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3"/>
            <p:cNvSpPr/>
            <p:nvPr/>
          </p:nvSpPr>
          <p:spPr>
            <a:xfrm>
              <a:off x="7071479" y="3558874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4"/>
            <p:cNvSpPr/>
            <p:nvPr/>
          </p:nvSpPr>
          <p:spPr>
            <a:xfrm>
              <a:off x="7471674" y="2778000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5"/>
            <p:cNvSpPr/>
            <p:nvPr/>
          </p:nvSpPr>
          <p:spPr>
            <a:xfrm>
              <a:off x="4783421" y="4339748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6"/>
            <p:cNvSpPr/>
            <p:nvPr/>
          </p:nvSpPr>
          <p:spPr>
            <a:xfrm>
              <a:off x="4394417" y="5120622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7"/>
            <p:cNvSpPr/>
            <p:nvPr/>
          </p:nvSpPr>
          <p:spPr>
            <a:xfrm>
              <a:off x="4907416" y="3558874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8"/>
            <p:cNvSpPr/>
            <p:nvPr/>
          </p:nvSpPr>
          <p:spPr>
            <a:xfrm>
              <a:off x="5484564" y="2778000"/>
              <a:ext cx="117303" cy="1173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1974749" y="1899602"/>
              <a:ext cx="0" cy="3592021"/>
            </a:xfrm>
            <a:custGeom>
              <a:avLst/>
              <a:gdLst/>
              <a:ahLst/>
              <a:cxnLst/>
              <a:rect l="0" t="0" r="0" b="0"/>
              <a:pathLst>
                <a:path h="3592021">
                  <a:moveTo>
                    <a:pt x="0" y="3592021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x40"/>
            <p:cNvSpPr/>
            <p:nvPr/>
          </p:nvSpPr>
          <p:spPr>
            <a:xfrm>
              <a:off x="1516527" y="5081829"/>
              <a:ext cx="355736" cy="1792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Qld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73303" y="4311001"/>
              <a:ext cx="1498959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NSW and ACT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1567314" y="3530126"/>
              <a:ext cx="304948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1554701" y="2752154"/>
              <a:ext cx="317562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Vic</a:t>
              </a:r>
            </a:p>
          </p:txBody>
        </p:sp>
        <p:sp>
          <p:nvSpPr>
            <p:cNvPr id="45" name="pl44"/>
            <p:cNvSpPr/>
            <p:nvPr/>
          </p:nvSpPr>
          <p:spPr>
            <a:xfrm>
              <a:off x="1917812" y="5179274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1917812" y="4398400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1917812" y="3617526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1917812" y="2836652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1847612" y="5555489"/>
              <a:ext cx="254272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564405" y="5546671"/>
              <a:ext cx="699194" cy="2110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7503658" y="5546671"/>
              <a:ext cx="699194" cy="2110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$4,000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10442911" y="5546671"/>
              <a:ext cx="699194" cy="2110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$6,000</a:t>
              </a:r>
            </a:p>
          </p:txBody>
        </p:sp>
      </p:grpSp>
      <p:sp>
        <p:nvSpPr>
          <p:cNvPr id="53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 dirty="0"/>
              <a:t>Households that electrify</a:t>
            </a:r>
            <a:r>
              <a:rPr lang="en-AU" dirty="0"/>
              <a:t> and install solar</a:t>
            </a:r>
            <a:r>
              <a:rPr dirty="0"/>
              <a:t> will save</a:t>
            </a:r>
          </a:p>
        </p:txBody>
      </p:sp>
      <p:sp>
        <p:nvSpPr>
          <p:cNvPr id="54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55" name="tx22">
            <a:extLst>
              <a:ext uri="{FF2B5EF4-FFF2-40B4-BE49-F238E27FC236}">
                <a16:creationId xmlns:a16="http://schemas.microsoft.com/office/drawing/2014/main" id="{AC05094A-9CC7-CA4A-5772-1D6F15EE6E0F}"/>
              </a:ext>
            </a:extLst>
          </p:cNvPr>
          <p:cNvSpPr/>
          <p:nvPr/>
        </p:nvSpPr>
        <p:spPr>
          <a:xfrm>
            <a:off x="3633356" y="4718689"/>
            <a:ext cx="533660" cy="1692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800" dirty="0">
                <a:latin typeface="Arial"/>
                <a:cs typeface="Arial"/>
              </a:rPr>
              <a:t>Electrify gas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9063</TotalTime>
  <Words>98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DM Serif Display</vt:lpstr>
      <vt:lpstr>Office Theme</vt:lpstr>
      <vt:lpstr>Households that electrify and install solar will save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title</dc:title>
  <dc:creator>Kat Clay</dc:creator>
  <cp:lastModifiedBy>Dominic Jones</cp:lastModifiedBy>
  <cp:revision>271</cp:revision>
  <dcterms:created xsi:type="dcterms:W3CDTF">2022-05-20T01:54:03Z</dcterms:created>
  <dcterms:modified xsi:type="dcterms:W3CDTF">2025-06-18T01:41:47Z</dcterms:modified>
</cp:coreProperties>
</file>