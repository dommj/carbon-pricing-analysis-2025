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presProps" Target="presProps.xml"/>
<Relationship Id="rId7" Type="http://schemas.microsoft.com/office/2018/10/relationships/authors" Target="authors.xml"/>
<Relationship Id="rId2" Type="http://schemas.openxmlformats.org/officeDocument/2006/relationships/notesMaster" Target="notesMasters/notesMaster1.xml"/>
<Relationship Id="rId1" Type="http://schemas.openxmlformats.org/officeDocument/2006/relationships/slideMaster" Target="slideMasters/slideMaster1.xml"/>
<Relationship Id="rId6" Type="http://schemas.openxmlformats.org/officeDocument/2006/relationships/tableStyles" Target="tableStyles.xml"/>
<Relationship Id="rId5" Type="http://schemas.openxmlformats.org/officeDocument/2006/relationships/theme" Target="theme/theme1.xml"/>
<Relationship Id="rId4" Type="http://schemas.openxmlformats.org/officeDocument/2006/relationships/viewProps" Target="viewProps.xml"/>
<Relationship Id="rId8" Type="http://schemas.openxmlformats.org/officeDocument/2006/relationships/slide" Target="slides/slide1.xml"/>
</Relationships>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1" Type="http://schemas.openxmlformats.org/officeDocument/2006/relationships/notesMaster" Target="../notesMasters/notesMaster1.xml"/>
<Relationship Id="rId2" Type="http://schemas.openxmlformats.org/officeDocument/2006/relationships/slide" Target="../slides/slide1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R script location: C:/Users/domijones/OneDrive - The University of Melbourne/Energy/Analysis/analysis_cp_dj_2025/R/create_charts.qmd
Powerpoint file location: C:\Users\domijones\OneDrive - The University of Melbourne\Energy\Analysis\analysis_cp_dj_2025\test_reverse_elec_fullslide.pptx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notesSlide" Target="../notesSlides/notesSlide1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Annual household energy costs, by consumer type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84335" y="1899602"/>
              <a:ext cx="10689949" cy="3592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984335" y="5491624"/>
              <a:ext cx="10689949" cy="0"/>
            </a:xfrm>
            <a:custGeom>
              <a:avLst/>
              <a:pathLst>
                <a:path w="10689949" h="0">
                  <a:moveTo>
                    <a:pt x="0" y="0"/>
                  </a:moveTo>
                  <a:lnTo>
                    <a:pt x="10689949" y="0"/>
                  </a:lnTo>
                  <a:lnTo>
                    <a:pt x="1068994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984335" y="4789043"/>
              <a:ext cx="10689949" cy="0"/>
            </a:xfrm>
            <a:custGeom>
              <a:avLst/>
              <a:pathLst>
                <a:path w="10689949" h="0">
                  <a:moveTo>
                    <a:pt x="0" y="0"/>
                  </a:moveTo>
                  <a:lnTo>
                    <a:pt x="10689949" y="0"/>
                  </a:lnTo>
                  <a:lnTo>
                    <a:pt x="1068994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984335" y="4086462"/>
              <a:ext cx="10689949" cy="0"/>
            </a:xfrm>
            <a:custGeom>
              <a:avLst/>
              <a:pathLst>
                <a:path w="10689949" h="0">
                  <a:moveTo>
                    <a:pt x="0" y="0"/>
                  </a:moveTo>
                  <a:lnTo>
                    <a:pt x="10689949" y="0"/>
                  </a:lnTo>
                  <a:lnTo>
                    <a:pt x="1068994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984335" y="3383881"/>
              <a:ext cx="10689949" cy="0"/>
            </a:xfrm>
            <a:custGeom>
              <a:avLst/>
              <a:pathLst>
                <a:path w="10689949" h="0">
                  <a:moveTo>
                    <a:pt x="0" y="0"/>
                  </a:moveTo>
                  <a:lnTo>
                    <a:pt x="10689949" y="0"/>
                  </a:lnTo>
                  <a:lnTo>
                    <a:pt x="1068994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984335" y="2681301"/>
              <a:ext cx="10689949" cy="0"/>
            </a:xfrm>
            <a:custGeom>
              <a:avLst/>
              <a:pathLst>
                <a:path w="10689949" h="0">
                  <a:moveTo>
                    <a:pt x="0" y="0"/>
                  </a:moveTo>
                  <a:lnTo>
                    <a:pt x="10689949" y="0"/>
                  </a:lnTo>
                  <a:lnTo>
                    <a:pt x="1068994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984335" y="1978720"/>
              <a:ext cx="10689949" cy="0"/>
            </a:xfrm>
            <a:custGeom>
              <a:avLst/>
              <a:pathLst>
                <a:path w="10689949" h="0">
                  <a:moveTo>
                    <a:pt x="0" y="0"/>
                  </a:moveTo>
                  <a:lnTo>
                    <a:pt x="10689949" y="0"/>
                  </a:lnTo>
                  <a:lnTo>
                    <a:pt x="1068994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98275" y="1952687"/>
              <a:ext cx="1439031" cy="353893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554034" y="1952687"/>
              <a:ext cx="1439031" cy="18759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2937306" y="1952687"/>
              <a:ext cx="616727" cy="0"/>
            </a:xfrm>
            <a:custGeom>
              <a:avLst/>
              <a:pathLst>
                <a:path w="616727" h="0">
                  <a:moveTo>
                    <a:pt x="0" y="0"/>
                  </a:moveTo>
                  <a:lnTo>
                    <a:pt x="6167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5609794" y="2140281"/>
              <a:ext cx="1439031" cy="98470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4993066" y="2140281"/>
              <a:ext cx="616727" cy="0"/>
            </a:xfrm>
            <a:custGeom>
              <a:avLst/>
              <a:pathLst>
                <a:path w="616727" h="0">
                  <a:moveTo>
                    <a:pt x="0" y="0"/>
                  </a:moveTo>
                  <a:lnTo>
                    <a:pt x="6167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7665553" y="3124991"/>
              <a:ext cx="1439031" cy="139340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048825" y="3124991"/>
              <a:ext cx="616727" cy="0"/>
            </a:xfrm>
            <a:custGeom>
              <a:avLst/>
              <a:pathLst>
                <a:path w="616727" h="0">
                  <a:moveTo>
                    <a:pt x="0" y="0"/>
                  </a:moveTo>
                  <a:lnTo>
                    <a:pt x="6167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2006776" y="3642196"/>
              <a:ext cx="422027" cy="134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FFFFFF">
                      <a:alpha val="100000"/>
                    </a:srgbClr>
                  </a:solidFill>
                  <a:latin typeface="theme_grattan"/>
                  <a:cs typeface="theme_grattan"/>
                </a:rPr>
                <a:t>$5040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079469" y="1966525"/>
              <a:ext cx="388161" cy="134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FFFFFF">
                      <a:alpha val="100000"/>
                    </a:srgbClr>
                  </a:solidFill>
                  <a:latin typeface="theme_grattan"/>
                  <a:cs typeface="theme_grattan"/>
                </a:rPr>
                <a:t>-$267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6093026" y="2552677"/>
              <a:ext cx="472567" cy="134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FFFFFF">
                      <a:alpha val="100000"/>
                    </a:srgbClr>
                  </a:solidFill>
                  <a:latin typeface="theme_grattan"/>
                  <a:cs typeface="theme_grattan"/>
                </a:rPr>
                <a:t>-$1400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148785" y="3741734"/>
              <a:ext cx="472567" cy="134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FFFFFF">
                      <a:alpha val="100000"/>
                    </a:srgbClr>
                  </a:solidFill>
                  <a:latin typeface="theme_grattan"/>
                  <a:cs typeface="theme_grattan"/>
                </a:rPr>
                <a:t>-$1980</a:t>
              </a:r>
            </a:p>
          </p:txBody>
        </p:sp>
        <p:sp>
          <p:nvSpPr>
            <p:cNvPr id="23" name="rc22"/>
            <p:cNvSpPr/>
            <p:nvPr/>
          </p:nvSpPr>
          <p:spPr>
            <a:xfrm>
              <a:off x="9721313" y="4518395"/>
              <a:ext cx="1439031" cy="97322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tx23"/>
            <p:cNvSpPr/>
            <p:nvPr/>
          </p:nvSpPr>
          <p:spPr>
            <a:xfrm>
              <a:off x="10229815" y="4925050"/>
              <a:ext cx="422027" cy="134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FFFFFF">
                      <a:alpha val="100000"/>
                    </a:srgbClr>
                  </a:solidFill>
                  <a:latin typeface="theme_grattan"/>
                  <a:cs typeface="theme_grattan"/>
                </a:rPr>
                <a:t>$1390</a:t>
              </a:r>
            </a:p>
          </p:txBody>
        </p:sp>
        <p:sp>
          <p:nvSpPr>
            <p:cNvPr id="25" name="pl24"/>
            <p:cNvSpPr/>
            <p:nvPr/>
          </p:nvSpPr>
          <p:spPr>
            <a:xfrm>
              <a:off x="9104585" y="4518395"/>
              <a:ext cx="616727" cy="0"/>
            </a:xfrm>
            <a:custGeom>
              <a:avLst/>
              <a:pathLst>
                <a:path w="616727" h="0">
                  <a:moveTo>
                    <a:pt x="0" y="0"/>
                  </a:moveTo>
                  <a:lnTo>
                    <a:pt x="6167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5095854" y="1916557"/>
              <a:ext cx="1299885" cy="259853"/>
            </a:xfrm>
            <a:custGeom>
              <a:avLst/>
              <a:pathLst>
                <a:path w="1299885" h="259853">
                  <a:moveTo>
                    <a:pt x="41148" y="259853"/>
                  </a:moveTo>
                  <a:lnTo>
                    <a:pt x="1258737" y="259853"/>
                  </a:lnTo>
                  <a:lnTo>
                    <a:pt x="1257080" y="259820"/>
                  </a:lnTo>
                  <a:lnTo>
                    <a:pt x="1263697" y="259553"/>
                  </a:lnTo>
                  <a:lnTo>
                    <a:pt x="1270185" y="258229"/>
                  </a:lnTo>
                  <a:lnTo>
                    <a:pt x="1276377" y="255881"/>
                  </a:lnTo>
                  <a:lnTo>
                    <a:pt x="1282112" y="252570"/>
                  </a:lnTo>
                  <a:lnTo>
                    <a:pt x="1287241" y="248381"/>
                  </a:lnTo>
                  <a:lnTo>
                    <a:pt x="1291633" y="243425"/>
                  </a:lnTo>
                  <a:lnTo>
                    <a:pt x="1295172" y="237828"/>
                  </a:lnTo>
                  <a:lnTo>
                    <a:pt x="1297768" y="231736"/>
                  </a:lnTo>
                  <a:lnTo>
                    <a:pt x="1299352" y="225306"/>
                  </a:lnTo>
                  <a:lnTo>
                    <a:pt x="1299885" y="218705"/>
                  </a:lnTo>
                  <a:lnTo>
                    <a:pt x="1299885" y="41148"/>
                  </a:lnTo>
                  <a:lnTo>
                    <a:pt x="1299352" y="34547"/>
                  </a:lnTo>
                  <a:lnTo>
                    <a:pt x="1297768" y="28117"/>
                  </a:lnTo>
                  <a:lnTo>
                    <a:pt x="1295172" y="22025"/>
                  </a:lnTo>
                  <a:lnTo>
                    <a:pt x="1291633" y="16428"/>
                  </a:lnTo>
                  <a:lnTo>
                    <a:pt x="1287241" y="11471"/>
                  </a:lnTo>
                  <a:lnTo>
                    <a:pt x="1282112" y="7283"/>
                  </a:lnTo>
                  <a:lnTo>
                    <a:pt x="1276377" y="3972"/>
                  </a:lnTo>
                  <a:lnTo>
                    <a:pt x="1270185" y="1624"/>
                  </a:lnTo>
                  <a:lnTo>
                    <a:pt x="1263697" y="300"/>
                  </a:lnTo>
                  <a:lnTo>
                    <a:pt x="1258737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218705"/>
                  </a:lnTo>
                  <a:lnTo>
                    <a:pt x="133" y="215394"/>
                  </a:lnTo>
                  <a:lnTo>
                    <a:pt x="133" y="222016"/>
                  </a:lnTo>
                  <a:lnTo>
                    <a:pt x="1195" y="228553"/>
                  </a:lnTo>
                  <a:lnTo>
                    <a:pt x="3292" y="234834"/>
                  </a:lnTo>
                  <a:lnTo>
                    <a:pt x="6370" y="240698"/>
                  </a:lnTo>
                  <a:lnTo>
                    <a:pt x="10348" y="245992"/>
                  </a:lnTo>
                  <a:lnTo>
                    <a:pt x="15124" y="250579"/>
                  </a:lnTo>
                  <a:lnTo>
                    <a:pt x="20574" y="254341"/>
                  </a:lnTo>
                  <a:lnTo>
                    <a:pt x="26556" y="257179"/>
                  </a:lnTo>
                  <a:lnTo>
                    <a:pt x="32917" y="259022"/>
                  </a:lnTo>
                  <a:lnTo>
                    <a:pt x="39491" y="259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5114142" y="1913766"/>
              <a:ext cx="1245021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Electrify gas</a:t>
              </a:r>
            </a:p>
          </p:txBody>
        </p:sp>
        <p:sp>
          <p:nvSpPr>
            <p:cNvPr id="28" name="pg27"/>
            <p:cNvSpPr/>
            <p:nvPr/>
          </p:nvSpPr>
          <p:spPr>
            <a:xfrm>
              <a:off x="7151613" y="2502709"/>
              <a:ext cx="1211035" cy="259853"/>
            </a:xfrm>
            <a:custGeom>
              <a:avLst/>
              <a:pathLst>
                <a:path w="1211035" h="259853">
                  <a:moveTo>
                    <a:pt x="41148" y="259853"/>
                  </a:moveTo>
                  <a:lnTo>
                    <a:pt x="1169887" y="259853"/>
                  </a:lnTo>
                  <a:lnTo>
                    <a:pt x="1168230" y="259820"/>
                  </a:lnTo>
                  <a:lnTo>
                    <a:pt x="1174847" y="259553"/>
                  </a:lnTo>
                  <a:lnTo>
                    <a:pt x="1181335" y="258229"/>
                  </a:lnTo>
                  <a:lnTo>
                    <a:pt x="1187527" y="255881"/>
                  </a:lnTo>
                  <a:lnTo>
                    <a:pt x="1193262" y="252570"/>
                  </a:lnTo>
                  <a:lnTo>
                    <a:pt x="1198391" y="248381"/>
                  </a:lnTo>
                  <a:lnTo>
                    <a:pt x="1202782" y="243425"/>
                  </a:lnTo>
                  <a:lnTo>
                    <a:pt x="1206322" y="237828"/>
                  </a:lnTo>
                  <a:lnTo>
                    <a:pt x="1208917" y="231736"/>
                  </a:lnTo>
                  <a:lnTo>
                    <a:pt x="1210502" y="225306"/>
                  </a:lnTo>
                  <a:lnTo>
                    <a:pt x="1211035" y="218705"/>
                  </a:lnTo>
                  <a:lnTo>
                    <a:pt x="1211035" y="41148"/>
                  </a:lnTo>
                  <a:lnTo>
                    <a:pt x="1210502" y="34547"/>
                  </a:lnTo>
                  <a:lnTo>
                    <a:pt x="1208917" y="28117"/>
                  </a:lnTo>
                  <a:lnTo>
                    <a:pt x="1206322" y="22025"/>
                  </a:lnTo>
                  <a:lnTo>
                    <a:pt x="1202782" y="16428"/>
                  </a:lnTo>
                  <a:lnTo>
                    <a:pt x="1198391" y="11471"/>
                  </a:lnTo>
                  <a:lnTo>
                    <a:pt x="1193262" y="7283"/>
                  </a:lnTo>
                  <a:lnTo>
                    <a:pt x="1187527" y="3972"/>
                  </a:lnTo>
                  <a:lnTo>
                    <a:pt x="1181335" y="1624"/>
                  </a:lnTo>
                  <a:lnTo>
                    <a:pt x="1174847" y="300"/>
                  </a:lnTo>
                  <a:lnTo>
                    <a:pt x="1169887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218705"/>
                  </a:lnTo>
                  <a:lnTo>
                    <a:pt x="133" y="215394"/>
                  </a:lnTo>
                  <a:lnTo>
                    <a:pt x="133" y="222016"/>
                  </a:lnTo>
                  <a:lnTo>
                    <a:pt x="1195" y="228553"/>
                  </a:lnTo>
                  <a:lnTo>
                    <a:pt x="3292" y="234834"/>
                  </a:lnTo>
                  <a:lnTo>
                    <a:pt x="6370" y="240698"/>
                  </a:lnTo>
                  <a:lnTo>
                    <a:pt x="10348" y="245992"/>
                  </a:lnTo>
                  <a:lnTo>
                    <a:pt x="15124" y="250579"/>
                  </a:lnTo>
                  <a:lnTo>
                    <a:pt x="20574" y="254341"/>
                  </a:lnTo>
                  <a:lnTo>
                    <a:pt x="26556" y="257179"/>
                  </a:lnTo>
                  <a:lnTo>
                    <a:pt x="32917" y="259022"/>
                  </a:lnTo>
                  <a:lnTo>
                    <a:pt x="39491" y="259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tx28"/>
            <p:cNvSpPr/>
            <p:nvPr/>
          </p:nvSpPr>
          <p:spPr>
            <a:xfrm>
              <a:off x="7169901" y="2548139"/>
              <a:ext cx="1156171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Install solar</a:t>
              </a:r>
            </a:p>
          </p:txBody>
        </p:sp>
        <p:sp>
          <p:nvSpPr>
            <p:cNvPr id="30" name="pg29"/>
            <p:cNvSpPr/>
            <p:nvPr/>
          </p:nvSpPr>
          <p:spPr>
            <a:xfrm>
              <a:off x="9207373" y="3691766"/>
              <a:ext cx="1668570" cy="259853"/>
            </a:xfrm>
            <a:custGeom>
              <a:avLst/>
              <a:pathLst>
                <a:path w="1668570" h="259853">
                  <a:moveTo>
                    <a:pt x="41148" y="259853"/>
                  </a:moveTo>
                  <a:lnTo>
                    <a:pt x="1627422" y="259853"/>
                  </a:lnTo>
                  <a:lnTo>
                    <a:pt x="1625765" y="259820"/>
                  </a:lnTo>
                  <a:lnTo>
                    <a:pt x="1632381" y="259553"/>
                  </a:lnTo>
                  <a:lnTo>
                    <a:pt x="1638870" y="258229"/>
                  </a:lnTo>
                  <a:lnTo>
                    <a:pt x="1645061" y="255881"/>
                  </a:lnTo>
                  <a:lnTo>
                    <a:pt x="1650796" y="252570"/>
                  </a:lnTo>
                  <a:lnTo>
                    <a:pt x="1655926" y="248381"/>
                  </a:lnTo>
                  <a:lnTo>
                    <a:pt x="1660317" y="243425"/>
                  </a:lnTo>
                  <a:lnTo>
                    <a:pt x="1663856" y="237828"/>
                  </a:lnTo>
                  <a:lnTo>
                    <a:pt x="1666452" y="231736"/>
                  </a:lnTo>
                  <a:lnTo>
                    <a:pt x="1668037" y="225306"/>
                  </a:lnTo>
                  <a:lnTo>
                    <a:pt x="1668570" y="218705"/>
                  </a:lnTo>
                  <a:lnTo>
                    <a:pt x="1668570" y="41148"/>
                  </a:lnTo>
                  <a:lnTo>
                    <a:pt x="1668037" y="34547"/>
                  </a:lnTo>
                  <a:lnTo>
                    <a:pt x="1666452" y="28117"/>
                  </a:lnTo>
                  <a:lnTo>
                    <a:pt x="1663856" y="22025"/>
                  </a:lnTo>
                  <a:lnTo>
                    <a:pt x="1660317" y="16428"/>
                  </a:lnTo>
                  <a:lnTo>
                    <a:pt x="1655926" y="11471"/>
                  </a:lnTo>
                  <a:lnTo>
                    <a:pt x="1650796" y="7283"/>
                  </a:lnTo>
                  <a:lnTo>
                    <a:pt x="1645061" y="3972"/>
                  </a:lnTo>
                  <a:lnTo>
                    <a:pt x="1638870" y="1624"/>
                  </a:lnTo>
                  <a:lnTo>
                    <a:pt x="1632381" y="300"/>
                  </a:lnTo>
                  <a:lnTo>
                    <a:pt x="1627422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218705"/>
                  </a:lnTo>
                  <a:lnTo>
                    <a:pt x="133" y="215394"/>
                  </a:lnTo>
                  <a:lnTo>
                    <a:pt x="133" y="222016"/>
                  </a:lnTo>
                  <a:lnTo>
                    <a:pt x="1195" y="228553"/>
                  </a:lnTo>
                  <a:lnTo>
                    <a:pt x="3292" y="234834"/>
                  </a:lnTo>
                  <a:lnTo>
                    <a:pt x="6370" y="240698"/>
                  </a:lnTo>
                  <a:lnTo>
                    <a:pt x="10348" y="245992"/>
                  </a:lnTo>
                  <a:lnTo>
                    <a:pt x="15124" y="250579"/>
                  </a:lnTo>
                  <a:lnTo>
                    <a:pt x="20574" y="254341"/>
                  </a:lnTo>
                  <a:lnTo>
                    <a:pt x="26556" y="257179"/>
                  </a:lnTo>
                  <a:lnTo>
                    <a:pt x="32917" y="259022"/>
                  </a:lnTo>
                  <a:lnTo>
                    <a:pt x="39491" y="259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tx30"/>
            <p:cNvSpPr/>
            <p:nvPr/>
          </p:nvSpPr>
          <p:spPr>
            <a:xfrm>
              <a:off x="9225661" y="3734294"/>
              <a:ext cx="1613706" cy="169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Switch to an EV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754713" y="5406345"/>
              <a:ext cx="12713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73303" y="4703765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373303" y="400118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2000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373303" y="3298491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3000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373303" y="2596022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4000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373303" y="1893441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5000</a:t>
              </a:r>
            </a:p>
          </p:txBody>
        </p:sp>
        <p:sp>
          <p:nvSpPr>
            <p:cNvPr id="38" name="pl37"/>
            <p:cNvSpPr/>
            <p:nvPr/>
          </p:nvSpPr>
          <p:spPr>
            <a:xfrm>
              <a:off x="984335" y="5491624"/>
              <a:ext cx="10689949" cy="0"/>
            </a:xfrm>
            <a:custGeom>
              <a:avLst/>
              <a:pathLst>
                <a:path w="10689949" h="0">
                  <a:moveTo>
                    <a:pt x="0" y="0"/>
                  </a:moveTo>
                  <a:lnTo>
                    <a:pt x="1068994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2217790" y="549162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10440829" y="5491624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1385599" y="5588640"/>
              <a:ext cx="1664382" cy="169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Fossil fuel home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9360895" y="5543210"/>
              <a:ext cx="2159868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Fully electrified home</a:t>
              </a:r>
            </a:p>
          </p:txBody>
        </p:sp>
      </p:grpSp>
      <p:sp>
        <p:nvSpPr>
          <p:cNvPr id="4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In NSW, households that electrify their homes can savemore than 70 per cent on their bills</a:t>
            </a:r>
          </a:p>
        </p:txBody>
      </p:sp>
      <p:sp>
        <p:nvSpPr>
          <p:cNvPr id="4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
Source: Grattan Institute analaysis see app 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/>
  <cp:revision>271</cp:revision>
  <dcterms:created xsi:type="dcterms:W3CDTF">2022-05-20T01:54:03Z</dcterms:created>
  <dcterms:modified xsi:type="dcterms:W3CDTF">2025-07-10T11:02:37Z</dcterms:modified>
</cp:coreProperties>
</file>