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1" r:id="rId1"/>
  </p:sldMasterIdLst>
  <p:notesMasterIdLst>
    <p:notesMasterId r:id="rId2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27A25-491E-F020-8D4D-24B2035FFD33}" name="Kat Clay" initials="KC" userId="S::kat.clay@grattaninstitute.edu.au::98d84789-129b-4d4d-9a75-a87bac8c8f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4E6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/>
    <p:restoredTop sz="94653"/>
  </p:normalViewPr>
  <p:slideViewPr>
    <p:cSldViewPr snapToGrid="0" snapToObjects="1">
      <p:cViewPr varScale="1">
        <p:scale>
          <a:sx n="121" d="100"/>
          <a:sy n="121" d="100"/>
        </p:scale>
        <p:origin x="2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06" d="100"/>
          <a:sy n="106" d="100"/>
        </p:scale>
        <p:origin x="3620" y="56"/>
      </p:cViewPr>
      <p:guideLst/>
    </p:cSldViewPr>
  </p:notes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7" Type="http://schemas.microsoft.com/office/2018/10/relationships/authors" Target="authors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8" Type="http://schemas.openxmlformats.org/officeDocument/2006/relationships/slide" Target="slides/slide1.xml"/>
</Relationships>
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75376-077A-8F42-9E71-155E70FB596E}" type="datetimeFigureOut">
              <a:rPr lang="en-US" smtClean="0"/>
              <a:t>4/3/25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E9419A-B53B-B044-8F99-D2573F3A84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388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1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R script location: C:/Users/domijones/OneDrive - The University of Melbourne/Energy/Analysis/analysis_cp_dj_2025/R/create_charts.qmd
Powerpoint file location: C:\Users\domijones\OneDrive - The University of Melbourne\Energy\Analysis\analysis_cp_dj_2025\test_reverse_elec_fullslide.pptx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CBC2DE-EA68-5645-6DC4-19921CEEB0B0}"/>
              </a:ext>
            </a:extLst>
          </p:cNvPr>
          <p:cNvSpPr txBox="1"/>
          <p:nvPr userDrawn="1"/>
        </p:nvSpPr>
        <p:spPr>
          <a:xfrm>
            <a:off x="116541" y="129091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972C78F-E40D-3A6B-24C2-906FA20E603F}"/>
              </a:ext>
            </a:extLst>
          </p:cNvPr>
          <p:cNvSpPr/>
          <p:nvPr userDrawn="1"/>
        </p:nvSpPr>
        <p:spPr>
          <a:xfrm>
            <a:off x="-11575" y="0"/>
            <a:ext cx="12203575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2DD39A8-9F28-D01B-F290-1C31B5FA8F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77400" y="5905970"/>
            <a:ext cx="1933575" cy="532929"/>
          </a:xfrm>
          <a:prstGeom prst="rect">
            <a:avLst/>
          </a:prstGeom>
        </p:spPr>
      </p:pic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9AC38636-A519-1DAA-F186-6178D64B122F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1575" y="0"/>
            <a:ext cx="4181474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picture here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F0A3FD-BE2F-A94A-0A45-53E6C58A00E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043488" y="5091113"/>
            <a:ext cx="1306512" cy="1206500"/>
          </a:xfrm>
        </p:spPr>
        <p:txBody>
          <a:bodyPr>
            <a:normAutofit/>
          </a:bodyPr>
          <a:lstStyle>
            <a:lvl1pPr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AU" dirty="0"/>
              <a:t>Insert headshot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4C6B55-78E8-9DB5-56FA-E4A3B5705F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64300" y="5141913"/>
            <a:ext cx="2335213" cy="339725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 and title</a:t>
            </a:r>
            <a:endParaRPr lang="en-AU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F4E9AF8-FC9F-0A5C-B569-D51DA3E363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64300" y="5732462"/>
            <a:ext cx="2276475" cy="268287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  <a:endParaRPr lang="en-A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0FC04F8-DC87-4C48-7442-FA72D1647E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14913" y="2014538"/>
            <a:ext cx="5573712" cy="1206500"/>
          </a:xfr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Title</a:t>
            </a:r>
            <a:endParaRPr lang="en-A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DCF6FB1-F9E4-A648-B189-9DD172BB1E8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14913" y="3429000"/>
            <a:ext cx="5573712" cy="652463"/>
          </a:xfrm>
        </p:spPr>
        <p:txBody>
          <a:bodyPr>
            <a:normAutofit/>
          </a:bodyPr>
          <a:lstStyle>
            <a:lvl1pPr marL="0" indent="0">
              <a:buNone/>
              <a:defRPr sz="24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Subheading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31635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0FF13B-17DE-B58E-23D0-863404B8498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4C34C6-D93D-964F-98F1-8B05274CB5BF}" type="datetimeFigureOut">
              <a:rPr lang="en-US" smtClean="0"/>
              <a:t>4/3/25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D1C777A-97BF-664C-98A5-2907D09321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062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B1789E7-BA20-0780-FB52-B02484AC77D3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2B8918E-1EDB-7F60-9A99-7D4A0E14AB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7BE69A9-24E9-418A-68B9-AAE233480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7B216488-F6B2-C054-EB55-0F9A57D9C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EECB45-057A-1EA2-2F6E-7C55F9459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A2F51-0C2E-D1D9-EFED-E3A2276D7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BAC65C7-BF2B-A350-909C-35D42AF84D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79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orange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CF076BF-B4D2-731F-A8C4-B4C0523DA8D6}"/>
              </a:ext>
            </a:extLst>
          </p:cNvPr>
          <p:cNvSpPr/>
          <p:nvPr userDrawn="1"/>
        </p:nvSpPr>
        <p:spPr>
          <a:xfrm>
            <a:off x="0" y="-1"/>
            <a:ext cx="12192000" cy="13295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CC0B9F51-D432-89C3-BAF5-11132AE404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E482CF5D-DEBD-DB20-7858-2A857E71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6015322-31D2-917E-375B-3379430E14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3A11B26-D536-E55C-FEA5-61BBE902E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1" y="1535906"/>
            <a:ext cx="11398531" cy="46156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E6EC27F-20CE-4CCF-3D5C-A051E0347B27}"/>
              </a:ext>
            </a:extLst>
          </p:cNvPr>
          <p:cNvSpPr txBox="1">
            <a:spLocks/>
          </p:cNvSpPr>
          <p:nvPr userDrawn="1"/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1C777A-97BF-664C-98A5-2907D09321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C22FC4E-C0DC-E3DE-BD6B-D5CA591803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5612" y="879474"/>
            <a:ext cx="6230937" cy="2921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subheading</a:t>
            </a:r>
            <a:endParaRPr lang="en-AU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2EE96F9-3E03-A2B8-1CAD-49604615B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668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74C90D1F-6BBA-97AB-88AA-507E0C7ADB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US" smtClean="0"/>
              <a:t>4/3/25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721463F-DE73-8A1C-4B1D-EC55231461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BAB2FF0-4955-916C-E396-EBC8532A6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8836AB3-6799-2DF5-B516-EDC045CE4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83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F927AB4-CA90-E951-65D7-A7115E4E9728}"/>
              </a:ext>
            </a:extLst>
          </p:cNvPr>
          <p:cNvSpPr/>
          <p:nvPr userDrawn="1"/>
        </p:nvSpPr>
        <p:spPr>
          <a:xfrm>
            <a:off x="0" y="-1"/>
            <a:ext cx="12192000" cy="1150201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2C36E00-9570-96F4-957E-95AEE4FAB2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83883" y="349310"/>
            <a:ext cx="1622635" cy="57626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EC5B233-B10D-77D4-13F6-C9B4EACA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add slide title</a:t>
            </a:r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C09E446-08E7-FD8F-80D1-1B02D15A6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33794" y="6356350"/>
            <a:ext cx="7189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5DDA1B1-E990-1373-D6AB-EF6EEB4045CA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371475" y="1808163"/>
            <a:ext cx="11412538" cy="4284662"/>
          </a:xfrm>
        </p:spPr>
        <p:txBody>
          <a:bodyPr/>
          <a:lstStyle/>
          <a:p>
            <a:r>
              <a:rPr lang="en-GB"/>
              <a:t>Click icon to add chart</a:t>
            </a:r>
            <a:endParaRPr lang="en-AU"/>
          </a:p>
        </p:txBody>
      </p:sp>
      <p:sp>
        <p:nvSpPr>
          <p:cNvPr id="7" name="Caption Placeholder 1">
            <a:extLst>
              <a:ext uri="{FF2B5EF4-FFF2-40B4-BE49-F238E27FC236}">
                <a16:creationId xmlns:a16="http://schemas.microsoft.com/office/drawing/2014/main" id="{0B68B2F7-35DA-8DD2-1D07-9D280795C2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 anchor="t">
            <a:normAutofit/>
          </a:bodyPr>
          <a:lstStyle>
            <a:lvl1pPr marL="0" indent="0">
              <a:spcBef>
                <a:spcPts val="200"/>
              </a:spcBef>
              <a:buNone/>
              <a:defRPr sz="800"/>
            </a:lvl1pPr>
          </a:lstStyle>
          <a:p>
            <a:pPr lvl="0"/>
            <a:r>
              <a:rPr lang="en-GB" dirty="0"/>
              <a:t>Insert source and notes here</a:t>
            </a:r>
            <a:endParaRPr lang="en-AU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B2EC199-2580-9D84-9E72-CE7324DB7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GB" dirty="0"/>
              <a:t>Insert unit title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5403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423" userDrawn="1">
          <p15:clr>
            <a:srgbClr val="FBAE40"/>
          </p15:clr>
        </p15:guide>
        <p15:guide id="3" pos="234" userDrawn="1">
          <p15:clr>
            <a:srgbClr val="FBAE40"/>
          </p15:clr>
        </p15:guide>
        <p15:guide id="4" orient="horz" pos="3838" userDrawn="1">
          <p15:clr>
            <a:srgbClr val="FBAE40"/>
          </p15:clr>
        </p15:guide>
        <p15:guide id="5" orient="horz" pos="3929" userDrawn="1">
          <p15:clr>
            <a:srgbClr val="FBAE40"/>
          </p15:clr>
        </p15:guide>
        <p15:guide id="6" orient="horz" pos="1139" userDrawn="1">
          <p15:clr>
            <a:srgbClr val="FBAE40"/>
          </p15:clr>
        </p15:guide>
        <p15:guide id="7" orient="horz" pos="1049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82" y="339329"/>
            <a:ext cx="9637060" cy="5401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5481" y="1315299"/>
            <a:ext cx="11398531" cy="4836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5482" y="6356350"/>
            <a:ext cx="31959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C34C6-D93D-964F-98F1-8B05274CB5BF}" type="datetimeFigureOut">
              <a:rPr lang="en-AU" noProof="0" smtClean="0"/>
              <a:t>3/4/2025</a:t>
            </a:fld>
            <a:endParaRPr lang="en-AU" noProof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46320" y="6356350"/>
            <a:ext cx="31421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1C777A-97BF-664C-98A5-2907D09321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4" r:id="rId2"/>
    <p:sldLayoutId id="2147483833" r:id="rId3"/>
    <p:sldLayoutId id="2147483844" r:id="rId4"/>
    <p:sldLayoutId id="2147483837" r:id="rId5"/>
    <p:sldLayoutId id="21474838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DM Serif Display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2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572" userDrawn="1">
          <p15:clr>
            <a:srgbClr val="F26B43"/>
          </p15:clr>
        </p15:guide>
        <p15:guide id="5" orient="horz" pos="82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78478" y="1312069"/>
            <a:ext cx="11398531" cy="335156"/>
          </a:xfrm>
        </p:spPr>
        <p:txBody>
          <a:bodyPr/>
          <a:lstStyle/>
          <a:p>
            <a:r>
              <a:rPr/>
              <a:t>Annual household energy costs, by consumer type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371475" y="1808163"/>
            <a:ext cx="11412538" cy="4284662"/>
            <a:chOff x="371475" y="1808163"/>
            <a:chExt cx="11412538" cy="4284662"/>
          </a:xfrm>
        </p:grpSpPr>
        <p:sp>
          <p:nvSpPr>
            <p:cNvPr id="4" name="rc3"/>
            <p:cNvSpPr/>
            <p:nvPr/>
          </p:nvSpPr>
          <p:spPr>
            <a:xfrm>
              <a:off x="371475" y="1808162"/>
              <a:ext cx="11412538" cy="42846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84335" y="1899602"/>
              <a:ext cx="10689949" cy="3592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984335" y="5491624"/>
              <a:ext cx="10689949" cy="0"/>
            </a:xfrm>
            <a:custGeom>
              <a:avLst/>
              <a:pathLst>
                <a:path w="10689949" h="0">
                  <a:moveTo>
                    <a:pt x="0" y="0"/>
                  </a:moveTo>
                  <a:lnTo>
                    <a:pt x="10689949" y="0"/>
                  </a:lnTo>
                  <a:lnTo>
                    <a:pt x="1068994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984335" y="4789043"/>
              <a:ext cx="10689949" cy="0"/>
            </a:xfrm>
            <a:custGeom>
              <a:avLst/>
              <a:pathLst>
                <a:path w="10689949" h="0">
                  <a:moveTo>
                    <a:pt x="0" y="0"/>
                  </a:moveTo>
                  <a:lnTo>
                    <a:pt x="10689949" y="0"/>
                  </a:lnTo>
                  <a:lnTo>
                    <a:pt x="1068994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984335" y="4086462"/>
              <a:ext cx="10689949" cy="0"/>
            </a:xfrm>
            <a:custGeom>
              <a:avLst/>
              <a:pathLst>
                <a:path w="10689949" h="0">
                  <a:moveTo>
                    <a:pt x="0" y="0"/>
                  </a:moveTo>
                  <a:lnTo>
                    <a:pt x="10689949" y="0"/>
                  </a:lnTo>
                  <a:lnTo>
                    <a:pt x="1068994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984335" y="3383881"/>
              <a:ext cx="10689949" cy="0"/>
            </a:xfrm>
            <a:custGeom>
              <a:avLst/>
              <a:pathLst>
                <a:path w="10689949" h="0">
                  <a:moveTo>
                    <a:pt x="0" y="0"/>
                  </a:moveTo>
                  <a:lnTo>
                    <a:pt x="10689949" y="0"/>
                  </a:lnTo>
                  <a:lnTo>
                    <a:pt x="1068994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984335" y="2681301"/>
              <a:ext cx="10689949" cy="0"/>
            </a:xfrm>
            <a:custGeom>
              <a:avLst/>
              <a:pathLst>
                <a:path w="10689949" h="0">
                  <a:moveTo>
                    <a:pt x="0" y="0"/>
                  </a:moveTo>
                  <a:lnTo>
                    <a:pt x="10689949" y="0"/>
                  </a:lnTo>
                  <a:lnTo>
                    <a:pt x="1068994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984335" y="1978720"/>
              <a:ext cx="10689949" cy="0"/>
            </a:xfrm>
            <a:custGeom>
              <a:avLst/>
              <a:pathLst>
                <a:path w="10689949" h="0">
                  <a:moveTo>
                    <a:pt x="0" y="0"/>
                  </a:moveTo>
                  <a:lnTo>
                    <a:pt x="10689949" y="0"/>
                  </a:lnTo>
                  <a:lnTo>
                    <a:pt x="10689949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1498275" y="1952687"/>
              <a:ext cx="1439031" cy="353893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3554034" y="1952687"/>
              <a:ext cx="1439031" cy="18759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7306" y="1952687"/>
              <a:ext cx="616727" cy="0"/>
            </a:xfrm>
            <a:custGeom>
              <a:avLst/>
              <a:pathLst>
                <a:path w="616727" h="0">
                  <a:moveTo>
                    <a:pt x="0" y="0"/>
                  </a:moveTo>
                  <a:lnTo>
                    <a:pt x="6167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5609794" y="2140281"/>
              <a:ext cx="1439031" cy="98470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4993066" y="2140281"/>
              <a:ext cx="616727" cy="0"/>
            </a:xfrm>
            <a:custGeom>
              <a:avLst/>
              <a:pathLst>
                <a:path w="616727" h="0">
                  <a:moveTo>
                    <a:pt x="0" y="0"/>
                  </a:moveTo>
                  <a:lnTo>
                    <a:pt x="6167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7665553" y="3124991"/>
              <a:ext cx="1439031" cy="139340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7048825" y="3124991"/>
              <a:ext cx="616727" cy="0"/>
            </a:xfrm>
            <a:custGeom>
              <a:avLst/>
              <a:pathLst>
                <a:path w="616727" h="0">
                  <a:moveTo>
                    <a:pt x="0" y="0"/>
                  </a:moveTo>
                  <a:lnTo>
                    <a:pt x="6167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2006776" y="3642196"/>
              <a:ext cx="422027" cy="134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$5040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4079469" y="1966525"/>
              <a:ext cx="388161" cy="134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-$267</a:t>
              </a:r>
            </a:p>
          </p:txBody>
        </p:sp>
        <p:sp>
          <p:nvSpPr>
            <p:cNvPr id="21" name="tx20"/>
            <p:cNvSpPr/>
            <p:nvPr/>
          </p:nvSpPr>
          <p:spPr>
            <a:xfrm>
              <a:off x="6093026" y="2552677"/>
              <a:ext cx="472567" cy="134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-$1400</a:t>
              </a:r>
            </a:p>
          </p:txBody>
        </p:sp>
        <p:sp>
          <p:nvSpPr>
            <p:cNvPr id="22" name="tx21"/>
            <p:cNvSpPr/>
            <p:nvPr/>
          </p:nvSpPr>
          <p:spPr>
            <a:xfrm>
              <a:off x="8148785" y="3741734"/>
              <a:ext cx="472567" cy="134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-$1980</a:t>
              </a:r>
            </a:p>
          </p:txBody>
        </p:sp>
        <p:sp>
          <p:nvSpPr>
            <p:cNvPr id="23" name="rc22"/>
            <p:cNvSpPr/>
            <p:nvPr/>
          </p:nvSpPr>
          <p:spPr>
            <a:xfrm>
              <a:off x="9721313" y="4518395"/>
              <a:ext cx="1439031" cy="97322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tx23"/>
            <p:cNvSpPr/>
            <p:nvPr/>
          </p:nvSpPr>
          <p:spPr>
            <a:xfrm>
              <a:off x="10229815" y="4925050"/>
              <a:ext cx="422027" cy="13427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FFFFFF">
                      <a:alpha val="100000"/>
                    </a:srgbClr>
                  </a:solidFill>
                  <a:latin typeface="theme_grattan"/>
                  <a:cs typeface="theme_grattan"/>
                </a:rPr>
                <a:t>$1390</a:t>
              </a:r>
            </a:p>
          </p:txBody>
        </p:sp>
        <p:sp>
          <p:nvSpPr>
            <p:cNvPr id="25" name="pl24"/>
            <p:cNvSpPr/>
            <p:nvPr/>
          </p:nvSpPr>
          <p:spPr>
            <a:xfrm>
              <a:off x="9104585" y="4518395"/>
              <a:ext cx="616727" cy="0"/>
            </a:xfrm>
            <a:custGeom>
              <a:avLst/>
              <a:pathLst>
                <a:path w="616727" h="0">
                  <a:moveTo>
                    <a:pt x="0" y="0"/>
                  </a:moveTo>
                  <a:lnTo>
                    <a:pt x="61672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g25"/>
            <p:cNvSpPr/>
            <p:nvPr/>
          </p:nvSpPr>
          <p:spPr>
            <a:xfrm>
              <a:off x="5095854" y="1916557"/>
              <a:ext cx="1299885" cy="259853"/>
            </a:xfrm>
            <a:custGeom>
              <a:avLst/>
              <a:pathLst>
                <a:path w="1299885" h="259853">
                  <a:moveTo>
                    <a:pt x="41148" y="259853"/>
                  </a:moveTo>
                  <a:lnTo>
                    <a:pt x="1258737" y="259853"/>
                  </a:lnTo>
                  <a:lnTo>
                    <a:pt x="1257080" y="259820"/>
                  </a:lnTo>
                  <a:lnTo>
                    <a:pt x="1263697" y="259553"/>
                  </a:lnTo>
                  <a:lnTo>
                    <a:pt x="1270185" y="258229"/>
                  </a:lnTo>
                  <a:lnTo>
                    <a:pt x="1276377" y="255881"/>
                  </a:lnTo>
                  <a:lnTo>
                    <a:pt x="1282112" y="252570"/>
                  </a:lnTo>
                  <a:lnTo>
                    <a:pt x="1287241" y="248381"/>
                  </a:lnTo>
                  <a:lnTo>
                    <a:pt x="1291633" y="243425"/>
                  </a:lnTo>
                  <a:lnTo>
                    <a:pt x="1295172" y="237828"/>
                  </a:lnTo>
                  <a:lnTo>
                    <a:pt x="1297768" y="231736"/>
                  </a:lnTo>
                  <a:lnTo>
                    <a:pt x="1299352" y="225306"/>
                  </a:lnTo>
                  <a:lnTo>
                    <a:pt x="1299885" y="218705"/>
                  </a:lnTo>
                  <a:lnTo>
                    <a:pt x="1299885" y="41148"/>
                  </a:lnTo>
                  <a:lnTo>
                    <a:pt x="1299352" y="34547"/>
                  </a:lnTo>
                  <a:lnTo>
                    <a:pt x="1297768" y="28117"/>
                  </a:lnTo>
                  <a:lnTo>
                    <a:pt x="1295172" y="22025"/>
                  </a:lnTo>
                  <a:lnTo>
                    <a:pt x="1291633" y="16428"/>
                  </a:lnTo>
                  <a:lnTo>
                    <a:pt x="1287241" y="11471"/>
                  </a:lnTo>
                  <a:lnTo>
                    <a:pt x="1282112" y="7283"/>
                  </a:lnTo>
                  <a:lnTo>
                    <a:pt x="1276377" y="3972"/>
                  </a:lnTo>
                  <a:lnTo>
                    <a:pt x="1270185" y="1624"/>
                  </a:lnTo>
                  <a:lnTo>
                    <a:pt x="1263697" y="300"/>
                  </a:lnTo>
                  <a:lnTo>
                    <a:pt x="125873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5114142" y="1913766"/>
              <a:ext cx="1245021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Electrify gas</a:t>
              </a:r>
            </a:p>
          </p:txBody>
        </p:sp>
        <p:sp>
          <p:nvSpPr>
            <p:cNvPr id="28" name="pg27"/>
            <p:cNvSpPr/>
            <p:nvPr/>
          </p:nvSpPr>
          <p:spPr>
            <a:xfrm>
              <a:off x="7151613" y="2502709"/>
              <a:ext cx="1211035" cy="259853"/>
            </a:xfrm>
            <a:custGeom>
              <a:avLst/>
              <a:pathLst>
                <a:path w="1211035" h="259853">
                  <a:moveTo>
                    <a:pt x="41148" y="259853"/>
                  </a:moveTo>
                  <a:lnTo>
                    <a:pt x="1169887" y="259853"/>
                  </a:lnTo>
                  <a:lnTo>
                    <a:pt x="1168230" y="259820"/>
                  </a:lnTo>
                  <a:lnTo>
                    <a:pt x="1174847" y="259553"/>
                  </a:lnTo>
                  <a:lnTo>
                    <a:pt x="1181335" y="258229"/>
                  </a:lnTo>
                  <a:lnTo>
                    <a:pt x="1187527" y="255881"/>
                  </a:lnTo>
                  <a:lnTo>
                    <a:pt x="1193262" y="252570"/>
                  </a:lnTo>
                  <a:lnTo>
                    <a:pt x="1198391" y="248381"/>
                  </a:lnTo>
                  <a:lnTo>
                    <a:pt x="1202782" y="243425"/>
                  </a:lnTo>
                  <a:lnTo>
                    <a:pt x="1206322" y="237828"/>
                  </a:lnTo>
                  <a:lnTo>
                    <a:pt x="1208917" y="231736"/>
                  </a:lnTo>
                  <a:lnTo>
                    <a:pt x="1210502" y="225306"/>
                  </a:lnTo>
                  <a:lnTo>
                    <a:pt x="1211035" y="218705"/>
                  </a:lnTo>
                  <a:lnTo>
                    <a:pt x="1211035" y="41148"/>
                  </a:lnTo>
                  <a:lnTo>
                    <a:pt x="1210502" y="34547"/>
                  </a:lnTo>
                  <a:lnTo>
                    <a:pt x="1208917" y="28117"/>
                  </a:lnTo>
                  <a:lnTo>
                    <a:pt x="1206322" y="22025"/>
                  </a:lnTo>
                  <a:lnTo>
                    <a:pt x="1202782" y="16428"/>
                  </a:lnTo>
                  <a:lnTo>
                    <a:pt x="1198391" y="11471"/>
                  </a:lnTo>
                  <a:lnTo>
                    <a:pt x="1193262" y="7283"/>
                  </a:lnTo>
                  <a:lnTo>
                    <a:pt x="1187527" y="3972"/>
                  </a:lnTo>
                  <a:lnTo>
                    <a:pt x="1181335" y="1624"/>
                  </a:lnTo>
                  <a:lnTo>
                    <a:pt x="1174847" y="300"/>
                  </a:lnTo>
                  <a:lnTo>
                    <a:pt x="1169887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tx28"/>
            <p:cNvSpPr/>
            <p:nvPr/>
          </p:nvSpPr>
          <p:spPr>
            <a:xfrm>
              <a:off x="7169901" y="2548139"/>
              <a:ext cx="1156171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Install solar</a:t>
              </a:r>
            </a:p>
          </p:txBody>
        </p:sp>
        <p:sp>
          <p:nvSpPr>
            <p:cNvPr id="30" name="pg29"/>
            <p:cNvSpPr/>
            <p:nvPr/>
          </p:nvSpPr>
          <p:spPr>
            <a:xfrm>
              <a:off x="9207373" y="3691766"/>
              <a:ext cx="1668570" cy="259853"/>
            </a:xfrm>
            <a:custGeom>
              <a:avLst/>
              <a:pathLst>
                <a:path w="1668570" h="259853">
                  <a:moveTo>
                    <a:pt x="41148" y="259853"/>
                  </a:moveTo>
                  <a:lnTo>
                    <a:pt x="1627422" y="259853"/>
                  </a:lnTo>
                  <a:lnTo>
                    <a:pt x="1625765" y="259820"/>
                  </a:lnTo>
                  <a:lnTo>
                    <a:pt x="1632381" y="259553"/>
                  </a:lnTo>
                  <a:lnTo>
                    <a:pt x="1638870" y="258229"/>
                  </a:lnTo>
                  <a:lnTo>
                    <a:pt x="1645061" y="255881"/>
                  </a:lnTo>
                  <a:lnTo>
                    <a:pt x="1650796" y="252570"/>
                  </a:lnTo>
                  <a:lnTo>
                    <a:pt x="1655926" y="248381"/>
                  </a:lnTo>
                  <a:lnTo>
                    <a:pt x="1660317" y="243425"/>
                  </a:lnTo>
                  <a:lnTo>
                    <a:pt x="1663856" y="237828"/>
                  </a:lnTo>
                  <a:lnTo>
                    <a:pt x="1666452" y="231736"/>
                  </a:lnTo>
                  <a:lnTo>
                    <a:pt x="1668037" y="225306"/>
                  </a:lnTo>
                  <a:lnTo>
                    <a:pt x="1668570" y="218705"/>
                  </a:lnTo>
                  <a:lnTo>
                    <a:pt x="1668570" y="41148"/>
                  </a:lnTo>
                  <a:lnTo>
                    <a:pt x="1668037" y="34547"/>
                  </a:lnTo>
                  <a:lnTo>
                    <a:pt x="1666452" y="28117"/>
                  </a:lnTo>
                  <a:lnTo>
                    <a:pt x="1663856" y="22025"/>
                  </a:lnTo>
                  <a:lnTo>
                    <a:pt x="1660317" y="16428"/>
                  </a:lnTo>
                  <a:lnTo>
                    <a:pt x="1655926" y="11471"/>
                  </a:lnTo>
                  <a:lnTo>
                    <a:pt x="1650796" y="7283"/>
                  </a:lnTo>
                  <a:lnTo>
                    <a:pt x="1645061" y="3972"/>
                  </a:lnTo>
                  <a:lnTo>
                    <a:pt x="1638870" y="1624"/>
                  </a:lnTo>
                  <a:lnTo>
                    <a:pt x="1632381" y="300"/>
                  </a:lnTo>
                  <a:lnTo>
                    <a:pt x="1627422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tx30"/>
            <p:cNvSpPr/>
            <p:nvPr/>
          </p:nvSpPr>
          <p:spPr>
            <a:xfrm>
              <a:off x="9225661" y="3734294"/>
              <a:ext cx="1613706" cy="1692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Switch to an EV</a:t>
              </a:r>
            </a:p>
          </p:txBody>
        </p:sp>
        <p:sp>
          <p:nvSpPr>
            <p:cNvPr id="32" name="tx31"/>
            <p:cNvSpPr/>
            <p:nvPr/>
          </p:nvSpPr>
          <p:spPr>
            <a:xfrm>
              <a:off x="754713" y="5406345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3" name="tx32"/>
            <p:cNvSpPr/>
            <p:nvPr/>
          </p:nvSpPr>
          <p:spPr>
            <a:xfrm>
              <a:off x="373303" y="4703765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34" name="tx33"/>
            <p:cNvSpPr/>
            <p:nvPr/>
          </p:nvSpPr>
          <p:spPr>
            <a:xfrm>
              <a:off x="373303" y="400118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2000</a:t>
              </a:r>
            </a:p>
          </p:txBody>
        </p:sp>
        <p:sp>
          <p:nvSpPr>
            <p:cNvPr id="35" name="tx34"/>
            <p:cNvSpPr/>
            <p:nvPr/>
          </p:nvSpPr>
          <p:spPr>
            <a:xfrm>
              <a:off x="373303" y="3298491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3000</a:t>
              </a:r>
            </a:p>
          </p:txBody>
        </p:sp>
        <p:sp>
          <p:nvSpPr>
            <p:cNvPr id="36" name="tx35"/>
            <p:cNvSpPr/>
            <p:nvPr/>
          </p:nvSpPr>
          <p:spPr>
            <a:xfrm>
              <a:off x="373303" y="2596022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373303" y="1893441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5000</a:t>
              </a:r>
            </a:p>
          </p:txBody>
        </p:sp>
        <p:sp>
          <p:nvSpPr>
            <p:cNvPr id="38" name="pl37"/>
            <p:cNvSpPr/>
            <p:nvPr/>
          </p:nvSpPr>
          <p:spPr>
            <a:xfrm>
              <a:off x="984335" y="5491624"/>
              <a:ext cx="10689949" cy="0"/>
            </a:xfrm>
            <a:custGeom>
              <a:avLst/>
              <a:pathLst>
                <a:path w="10689949" h="0">
                  <a:moveTo>
                    <a:pt x="0" y="0"/>
                  </a:moveTo>
                  <a:lnTo>
                    <a:pt x="10689949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8"/>
            <p:cNvSpPr/>
            <p:nvPr/>
          </p:nvSpPr>
          <p:spPr>
            <a:xfrm>
              <a:off x="2217790" y="549162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39"/>
            <p:cNvSpPr/>
            <p:nvPr/>
          </p:nvSpPr>
          <p:spPr>
            <a:xfrm>
              <a:off x="10440829" y="5491624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0"/>
            <p:cNvSpPr/>
            <p:nvPr/>
          </p:nvSpPr>
          <p:spPr>
            <a:xfrm>
              <a:off x="1385599" y="5588640"/>
              <a:ext cx="1664382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Fossil fuel home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9360895" y="5543210"/>
              <a:ext cx="2159868" cy="2145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Fully electrified home</a:t>
              </a:r>
            </a:p>
          </p:txBody>
        </p:sp>
      </p:grpSp>
      <p:sp>
        <p:nvSpPr>
          <p:cNvPr id="43" name="Title 1"/>
          <p:cNvSpPr>
            <a:spLocks noGrp="1"/>
          </p:cNvSpPr>
          <p:nvPr>
            <p:ph type="title" hasCustomPrompt="1"/>
          </p:nvPr>
        </p:nvSpPr>
        <p:spPr>
          <a:xfrm>
            <a:off x="385482" y="367368"/>
            <a:ext cx="9637060" cy="540145"/>
          </a:xfrm>
        </p:spPr>
        <p:txBody>
          <a:bodyPr/>
          <a:lstStyle/>
          <a:p>
            <a:r>
              <a:rPr/>
              <a:t>In NSW, households that electrify their homes can savemore than 70 per cent on their bills</a:t>
            </a:r>
          </a:p>
        </p:txBody>
      </p:sp>
      <p:sp>
        <p:nvSpPr>
          <p:cNvPr id="44" name="Caption Placeholder 1"/>
          <p:cNvSpPr>
            <a:spLocks noGrp="1"/>
          </p:cNvSpPr>
          <p:nvPr>
            <p:ph type="body" sz="quarter" idx="11" hasCustomPrompt="1"/>
          </p:nvPr>
        </p:nvSpPr>
        <p:spPr>
          <a:xfrm>
            <a:off x="371475" y="6239781"/>
            <a:ext cx="10662320" cy="455613"/>
          </a:xfrm>
        </p:spPr>
        <p:txBody>
          <a:bodyPr/>
          <a:lstStyle/>
          <a:p>
            <a:r>
              <a:rPr/>
              <a:t>Notes: 
Source: Grattan Institute analaysis see app 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2 Grattan PPT Colour Theme - FINAL">
      <a:dk1>
        <a:srgbClr val="000000"/>
      </a:dk1>
      <a:lt1>
        <a:srgbClr val="FFFFFF"/>
      </a:lt1>
      <a:dk2>
        <a:srgbClr val="D4582A"/>
      </a:dk2>
      <a:lt2>
        <a:srgbClr val="FFF3E6"/>
      </a:lt2>
      <a:accent1>
        <a:srgbClr val="EF7900"/>
      </a:accent1>
      <a:accent2>
        <a:srgbClr val="A1253E"/>
      </a:accent2>
      <a:accent3>
        <a:srgbClr val="611633"/>
      </a:accent3>
      <a:accent4>
        <a:srgbClr val="F5B50C"/>
      </a:accent4>
      <a:accent5>
        <a:srgbClr val="6A99C4"/>
      </a:accent5>
      <a:accent6>
        <a:srgbClr val="4371A1"/>
      </a:accent6>
      <a:hlink>
        <a:srgbClr val="EF7900"/>
      </a:hlink>
      <a:folHlink>
        <a:srgbClr val="D4582A"/>
      </a:folHlink>
    </a:clrScheme>
    <a:fontScheme name="Grattan Web Fonts">
      <a:majorFont>
        <a:latin typeface="DM Serif Display"/>
        <a:ea typeface=""/>
        <a:cs typeface=""/>
      </a:majorFont>
      <a:minorFont>
        <a:latin typeface="Avenir Next LT Pr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sz="1600" dirty="0">
            <a:solidFill>
              <a:schemeClr val="accent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9055</TotalTime>
  <Words>0</Words>
  <Application>Microsoft Macintosh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Next LT Pro</vt:lpstr>
      <vt:lpstr>Calibri</vt:lpstr>
      <vt:lpstr>DM Serif Display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Insert title</dc:title>
  <dc:creator>Kat Clay</dc:creator>
  <cp:lastModifiedBy/>
  <cp:revision>271</cp:revision>
  <dcterms:created xsi:type="dcterms:W3CDTF">2022-05-20T01:54:03Z</dcterms:created>
  <dcterms:modified xsi:type="dcterms:W3CDTF">2025-07-10T15:16:28Z</dcterms:modified>
</cp:coreProperties>
</file>