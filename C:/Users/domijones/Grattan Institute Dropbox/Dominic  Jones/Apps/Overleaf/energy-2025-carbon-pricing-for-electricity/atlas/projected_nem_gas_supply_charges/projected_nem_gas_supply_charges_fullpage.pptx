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8"/>
  </p:notesMasterIdLst>
  <p:sldIdLst>
    <p:sldId id="256" r:id="rId2"/>
    <p:sldId id="257" r:id="rId7"/>
  </p:sldIdLst>
  <p:sldSz cx="15955963" cy="7977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46" d="100"/>
          <a:sy n="46" d="100"/>
        </p:scale>
        <p:origin x="3256" y="1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2" Type="http://schemas.openxmlformats.org/officeDocument/2006/relationships/slide" Target="slides/slide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7" Type="http://schemas.openxmlformats.org/officeDocument/2006/relationships/slide" Target="slides/slide2.xml"/>
<Relationship Id="rId8" Type="http://schemas.openxmlformats.org/officeDocument/2006/relationships/notesMaster" Target="notesMasters/notesMaster1.xml"/>
</Relationships>

</file>

<file path=ppt/notesMasters/_rels/notesMaster1.xml.rels><?xml version="1.0" encoding="UTF-8" standalone="yes"?>

<Relationships  xmlns="http://schemas.openxmlformats.org/package/2006/relationships">
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Dropbox/Dominic  Jones/Apps/Overleaf/energy-2025-carbon-pricing-for-electricity/atlas/projected_nem_gas_supply_charges/projected_nem_gas_supply_charges_fullpage.pptx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4496" y="1305527"/>
            <a:ext cx="11966972" cy="2777243"/>
          </a:xfrm>
        </p:spPr>
        <p:txBody>
          <a:bodyPr anchor="b"/>
          <a:lstStyle>
            <a:lvl1pPr algn="ctr">
              <a:defRPr sz="69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94496" y="4189871"/>
            <a:ext cx="11966972" cy="1925973"/>
          </a:xfrm>
        </p:spPr>
        <p:txBody>
          <a:bodyPr/>
          <a:lstStyle>
            <a:lvl1pPr marL="0" indent="0" algn="ctr">
              <a:buNone/>
              <a:defRPr sz="2792"/>
            </a:lvl1pPr>
            <a:lvl2pPr marL="531815" indent="0" algn="ctr">
              <a:buNone/>
              <a:defRPr sz="2326"/>
            </a:lvl2pPr>
            <a:lvl3pPr marL="1063630" indent="0" algn="ctr">
              <a:buNone/>
              <a:defRPr sz="2094"/>
            </a:lvl3pPr>
            <a:lvl4pPr marL="1595445" indent="0" algn="ctr">
              <a:buNone/>
              <a:defRPr sz="1861"/>
            </a:lvl4pPr>
            <a:lvl5pPr marL="2127260" indent="0" algn="ctr">
              <a:buNone/>
              <a:defRPr sz="1861"/>
            </a:lvl5pPr>
            <a:lvl6pPr marL="2659075" indent="0" algn="ctr">
              <a:buNone/>
              <a:defRPr sz="1861"/>
            </a:lvl6pPr>
            <a:lvl7pPr marL="3190890" indent="0" algn="ctr">
              <a:buNone/>
              <a:defRPr sz="1861"/>
            </a:lvl7pPr>
            <a:lvl8pPr marL="3722705" indent="0" algn="ctr">
              <a:buNone/>
              <a:defRPr sz="1861"/>
            </a:lvl8pPr>
            <a:lvl9pPr marL="4254520" indent="0" algn="ctr">
              <a:buNone/>
              <a:defRPr sz="1861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6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62" y="1988758"/>
            <a:ext cx="13762018" cy="3318288"/>
          </a:xfrm>
        </p:spPr>
        <p:txBody>
          <a:bodyPr anchor="b"/>
          <a:lstStyle>
            <a:lvl1pPr>
              <a:defRPr sz="69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62" y="5338439"/>
            <a:ext cx="13762018" cy="1745009"/>
          </a:xfrm>
        </p:spPr>
        <p:txBody>
          <a:bodyPr/>
          <a:lstStyle>
            <a:lvl1pPr marL="0" indent="0">
              <a:buNone/>
              <a:defRPr sz="2792">
                <a:solidFill>
                  <a:schemeClr val="tx1">
                    <a:tint val="75000"/>
                  </a:schemeClr>
                </a:solidFill>
              </a:defRPr>
            </a:lvl1pPr>
            <a:lvl2pPr marL="531815" indent="0">
              <a:buNone/>
              <a:defRPr sz="2326">
                <a:solidFill>
                  <a:schemeClr val="tx1">
                    <a:tint val="75000"/>
                  </a:schemeClr>
                </a:solidFill>
              </a:defRPr>
            </a:lvl2pPr>
            <a:lvl3pPr marL="1063630" indent="0">
              <a:buNone/>
              <a:defRPr sz="2094">
                <a:solidFill>
                  <a:schemeClr val="tx1">
                    <a:tint val="75000"/>
                  </a:schemeClr>
                </a:solidFill>
              </a:defRPr>
            </a:lvl3pPr>
            <a:lvl4pPr marL="159544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4pPr>
            <a:lvl5pPr marL="212726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5pPr>
            <a:lvl6pPr marL="265907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6pPr>
            <a:lvl7pPr marL="319089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7pPr>
            <a:lvl8pPr marL="372270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8pPr>
            <a:lvl9pPr marL="425452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75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-1" y="-2595190"/>
            <a:ext cx="15955963" cy="1087666"/>
          </a:xfrm>
        </p:spPr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-1" y="-1212767"/>
            <a:ext cx="15955963" cy="10150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15955200" cy="797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D38CE8C8-8AEA-56B1-3B41-9467B20BED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789525" y="-2355850"/>
            <a:ext cx="4627130" cy="23558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32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455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693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327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73" y="424712"/>
            <a:ext cx="13762018" cy="1541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73" y="2123557"/>
            <a:ext cx="13762018" cy="5061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72" y="7393672"/>
            <a:ext cx="3590092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5413" y="7393672"/>
            <a:ext cx="5385138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68899" y="7393672"/>
            <a:ext cx="3590092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980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</p:sldLayoutIdLst>
  <p:txStyles>
    <p:titleStyle>
      <a:lvl1pPr algn="l" defTabSz="106363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65908" indent="-265908" algn="l" defTabSz="1063630" rtl="0" eaLnBrk="1" latinLnBrk="0" hangingPunct="1">
        <a:lnSpc>
          <a:spcPct val="90000"/>
        </a:lnSpc>
        <a:spcBef>
          <a:spcPts val="116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772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32953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6135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39316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92498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6pPr>
      <a:lvl7pPr marL="345679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7pPr>
      <a:lvl8pPr marL="398861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8pPr>
      <a:lvl9pPr marL="452042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1pPr>
      <a:lvl2pPr marL="53181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2pPr>
      <a:lvl3pPr marL="106363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3pPr>
      <a:lvl4pPr marL="159544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4pPr>
      <a:lvl5pPr marL="212726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5pPr>
      <a:lvl6pPr marL="265907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6pPr>
      <a:lvl7pPr marL="319089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7pPr>
      <a:lvl8pPr marL="372270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8pPr>
      <a:lvl9pPr marL="425452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8729" y="1686081"/>
            <a:ext cx="7758504" cy="23833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6902" y="4233113"/>
            <a:ext cx="6845739" cy="165280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-1" y="-1212767"/>
            <a:ext cx="15955963" cy="1015060"/>
          </a:xfrm>
        </p:spPr>
        <p:txBody>
          <a:bodyPr/>
          <a:lstStyle/>
          <a:p>
            <a:r>
              <a:rPr/>
              <a:t>Projected annual average NEM residential network charges ($2025)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15955200" cy="7977600"/>
            <a:chOff x="0" y="0"/>
            <a:chExt cx="15955200" cy="79776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15955200" cy="797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612860" y="91440"/>
              <a:ext cx="15232611" cy="724901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12860" y="7340452"/>
              <a:ext cx="15232611" cy="0"/>
            </a:xfrm>
            <a:custGeom>
              <a:avLst/>
              <a:pathLst>
                <a:path w="15232611" h="0">
                  <a:moveTo>
                    <a:pt x="0" y="0"/>
                  </a:moveTo>
                  <a:lnTo>
                    <a:pt x="15232611" y="0"/>
                  </a:lnTo>
                  <a:lnTo>
                    <a:pt x="1523261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612860" y="5301767"/>
              <a:ext cx="15232611" cy="0"/>
            </a:xfrm>
            <a:custGeom>
              <a:avLst/>
              <a:pathLst>
                <a:path w="15232611" h="0">
                  <a:moveTo>
                    <a:pt x="0" y="0"/>
                  </a:moveTo>
                  <a:lnTo>
                    <a:pt x="15232611" y="0"/>
                  </a:lnTo>
                  <a:lnTo>
                    <a:pt x="1523261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612860" y="3263082"/>
              <a:ext cx="15232611" cy="0"/>
            </a:xfrm>
            <a:custGeom>
              <a:avLst/>
              <a:pathLst>
                <a:path w="15232611" h="0">
                  <a:moveTo>
                    <a:pt x="0" y="0"/>
                  </a:moveTo>
                  <a:lnTo>
                    <a:pt x="15232611" y="0"/>
                  </a:lnTo>
                  <a:lnTo>
                    <a:pt x="1523261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612860" y="1224397"/>
              <a:ext cx="15232611" cy="0"/>
            </a:xfrm>
            <a:custGeom>
              <a:avLst/>
              <a:pathLst>
                <a:path w="15232611" h="0">
                  <a:moveTo>
                    <a:pt x="0" y="0"/>
                  </a:moveTo>
                  <a:lnTo>
                    <a:pt x="15232611" y="0"/>
                  </a:lnTo>
                  <a:lnTo>
                    <a:pt x="1523261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305251" y="4427153"/>
              <a:ext cx="783839" cy="291329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2176184" y="4338273"/>
              <a:ext cx="783839" cy="300217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3047116" y="4221856"/>
              <a:ext cx="783839" cy="3118595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3918049" y="4064002"/>
              <a:ext cx="783839" cy="327644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4788982" y="3901297"/>
              <a:ext cx="783839" cy="343915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5659914" y="3698048"/>
              <a:ext cx="783839" cy="364240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6530847" y="3523757"/>
              <a:ext cx="783839" cy="381669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7401780" y="3321784"/>
              <a:ext cx="783839" cy="401866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8272712" y="3092350"/>
              <a:ext cx="783839" cy="424810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9143645" y="2834970"/>
              <a:ext cx="783839" cy="450548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10014577" y="2544125"/>
              <a:ext cx="783839" cy="479632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10885510" y="2198773"/>
              <a:ext cx="783839" cy="514167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11756443" y="1788161"/>
              <a:ext cx="783839" cy="555229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12627375" y="1324045"/>
              <a:ext cx="783839" cy="601640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13498308" y="806679"/>
              <a:ext cx="783839" cy="653377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14369241" y="198568"/>
              <a:ext cx="783839" cy="714188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>
              <a:off x="256101" y="7218729"/>
              <a:ext cx="254272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828" y="5180044"/>
              <a:ext cx="508545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$200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1828" y="3141359"/>
              <a:ext cx="508545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$400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1828" y="1102675"/>
              <a:ext cx="508545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$600</a:t>
              </a:r>
            </a:p>
          </p:txBody>
        </p:sp>
        <p:sp>
          <p:nvSpPr>
            <p:cNvPr id="30" name="pl29"/>
            <p:cNvSpPr/>
            <p:nvPr/>
          </p:nvSpPr>
          <p:spPr>
            <a:xfrm>
              <a:off x="612860" y="7340452"/>
              <a:ext cx="15232611" cy="0"/>
            </a:xfrm>
            <a:custGeom>
              <a:avLst/>
              <a:pathLst>
                <a:path w="15232611" h="0">
                  <a:moveTo>
                    <a:pt x="0" y="0"/>
                  </a:moveTo>
                  <a:lnTo>
                    <a:pt x="15232611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697171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6051834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10406497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14761160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tx34"/>
            <p:cNvSpPr/>
            <p:nvPr/>
          </p:nvSpPr>
          <p:spPr>
            <a:xfrm>
              <a:off x="1442898" y="7472522"/>
              <a:ext cx="508545" cy="164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2025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5797561" y="7472522"/>
              <a:ext cx="508545" cy="164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2030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0152224" y="7472522"/>
              <a:ext cx="508545" cy="164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2035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14506888" y="7472522"/>
              <a:ext cx="508545" cy="164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2040</a:t>
              </a:r>
            </a:p>
          </p:txBody>
        </p:sp>
      </p:grpSp>
      <p:sp>
        <p:nvSpPr>
          <p:cNvPr id="39" name="Title 1"/>
          <p:cNvSpPr>
            <a:spLocks noGrp="1"/>
          </p:cNvSpPr>
          <p:nvPr>
            <p:ph type="title" hasCustomPrompt="1"/>
          </p:nvPr>
        </p:nvSpPr>
        <p:spPr>
          <a:xfrm>
            <a:off x="-1" y="-2595190"/>
            <a:ext cx="15955963" cy="1087666"/>
          </a:xfrm>
        </p:spPr>
        <p:txBody>
          <a:bodyPr/>
          <a:lstStyle/>
          <a:p>
            <a:r>
              <a:rPr/>
              <a:t>Residential gas network charges are set to rise rapidly</a:t>
            </a:r>
          </a:p>
        </p:txBody>
      </p:sp>
      <p:sp>
        <p:nvSpPr>
          <p:cNvPr id="40" name="Caption Placeholder 1"/>
          <p:cNvSpPr>
            <a:spLocks noGrp="1"/>
          </p:cNvSpPr>
          <p:nvPr>
            <p:ph sz="quarter" idx="10"/>
          </p:nvPr>
        </p:nvSpPr>
        <p:spPr>
          <a:xfrm>
            <a:off x="17789525" y="-2355850"/>
            <a:ext cx="4627130" cy="2355850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>bjjefferson</cp:lastModifiedBy>
  <cp:revision>38</cp:revision>
  <dcterms:created xsi:type="dcterms:W3CDTF">2019-02-12T04:35:04Z</dcterms:created>
  <dcterms:modified xsi:type="dcterms:W3CDTF">2025-08-05T18:35:27Z</dcterms:modified>
</cp:coreProperties>
</file>