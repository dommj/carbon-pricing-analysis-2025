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8"/>
  </p:notesMasterIdLst>
  <p:sldIdLst>
    <p:sldId id="256" r:id="rId2"/>
    <p:sldId id="257" r:id="rId7"/>
  </p:sldIdLst>
  <p:sldSz cx="7977188" cy="79771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>
        <p:scale>
          <a:sx n="59" d="100"/>
          <a:sy n="59" d="100"/>
        </p:scale>
        <p:origin x="2896" y="1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slide" Target="slides/slide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2.xml"/>
<Relationship Id="rId8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Dropbox/Dominic  Jones/Apps/Overleaf/energy-2025-carbon-pricing-for-electricity/atlas/average_energy_wallet/average_energy_wallet_wholecolumn.pptx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8289" y="1305527"/>
            <a:ext cx="6780610" cy="2777243"/>
          </a:xfrm>
        </p:spPr>
        <p:txBody>
          <a:bodyPr anchor="b"/>
          <a:lstStyle>
            <a:lvl1pPr algn="ctr">
              <a:defRPr sz="523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7149" y="4189871"/>
            <a:ext cx="5982891" cy="1925973"/>
          </a:xfrm>
        </p:spPr>
        <p:txBody>
          <a:bodyPr/>
          <a:lstStyle>
            <a:lvl1pPr marL="0" indent="0" algn="ctr">
              <a:buNone/>
              <a:defRPr sz="2094"/>
            </a:lvl1pPr>
            <a:lvl2pPr marL="398861" indent="0" algn="ctr">
              <a:buNone/>
              <a:defRPr sz="1745"/>
            </a:lvl2pPr>
            <a:lvl3pPr marL="797723" indent="0" algn="ctr">
              <a:buNone/>
              <a:defRPr sz="1570"/>
            </a:lvl3pPr>
            <a:lvl4pPr marL="1196584" indent="0" algn="ctr">
              <a:buNone/>
              <a:defRPr sz="1396"/>
            </a:lvl4pPr>
            <a:lvl5pPr marL="1595445" indent="0" algn="ctr">
              <a:buNone/>
              <a:defRPr sz="1396"/>
            </a:lvl5pPr>
            <a:lvl6pPr marL="1994306" indent="0" algn="ctr">
              <a:buNone/>
              <a:defRPr sz="1396"/>
            </a:lvl6pPr>
            <a:lvl7pPr marL="2393168" indent="0" algn="ctr">
              <a:buNone/>
              <a:defRPr sz="1396"/>
            </a:lvl7pPr>
            <a:lvl8pPr marL="2792029" indent="0" algn="ctr">
              <a:buNone/>
              <a:defRPr sz="1396"/>
            </a:lvl8pPr>
            <a:lvl9pPr marL="3190890" indent="0" algn="ctr">
              <a:buNone/>
              <a:defRPr sz="139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949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17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4277" y="1988760"/>
            <a:ext cx="6880325" cy="3318288"/>
          </a:xfrm>
        </p:spPr>
        <p:txBody>
          <a:bodyPr anchor="b"/>
          <a:lstStyle>
            <a:lvl1pPr>
              <a:defRPr sz="523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277" y="5338440"/>
            <a:ext cx="6880325" cy="1745009"/>
          </a:xfrm>
        </p:spPr>
        <p:txBody>
          <a:bodyPr/>
          <a:lstStyle>
            <a:lvl1pPr marL="0" indent="0">
              <a:buNone/>
              <a:defRPr sz="2094">
                <a:solidFill>
                  <a:schemeClr val="tx1"/>
                </a:solidFill>
              </a:defRPr>
            </a:lvl1pPr>
            <a:lvl2pPr marL="398861" indent="0">
              <a:buNone/>
              <a:defRPr sz="1745">
                <a:solidFill>
                  <a:schemeClr val="tx1">
                    <a:tint val="75000"/>
                  </a:schemeClr>
                </a:solidFill>
              </a:defRPr>
            </a:lvl2pPr>
            <a:lvl3pPr marL="797723" indent="0">
              <a:buNone/>
              <a:defRPr sz="1570">
                <a:solidFill>
                  <a:schemeClr val="tx1">
                    <a:tint val="75000"/>
                  </a:schemeClr>
                </a:solidFill>
              </a:defRPr>
            </a:lvl3pPr>
            <a:lvl4pPr marL="119658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595445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199430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393168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279202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19089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4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2100688"/>
            <a:ext cx="7977188" cy="746021"/>
          </a:xfrm>
        </p:spPr>
        <p:txBody>
          <a:bodyPr/>
          <a:lstStyle/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0" y="-1330843"/>
            <a:ext cx="7977188" cy="77204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US" dirty="0"/>
          </a:p>
        </p:txBody>
      </p:sp>
      <p:sp>
        <p:nvSpPr>
          <p:cNvPr id="4" name="Content Placeholder 3"/>
          <p:cNvSpPr>
            <a:spLocks noGrp="1" noChangeAspect="1"/>
          </p:cNvSpPr>
          <p:nvPr>
            <p:ph sz="half" idx="2"/>
          </p:nvPr>
        </p:nvSpPr>
        <p:spPr>
          <a:xfrm>
            <a:off x="0" y="0"/>
            <a:ext cx="7977600" cy="79776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CB53B34F-3514-88FE-3AF1-811EBBCF08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926513" y="-1633538"/>
            <a:ext cx="2460625" cy="2590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2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8724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2309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5552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432" y="424713"/>
            <a:ext cx="6880325" cy="15418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432" y="2123557"/>
            <a:ext cx="6880325" cy="506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432" y="7393673"/>
            <a:ext cx="1794867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12/28/22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2444" y="7393673"/>
            <a:ext cx="2692301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33889" y="7393673"/>
            <a:ext cx="1794867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902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</p:sldLayoutIdLst>
  <p:txStyles>
    <p:titleStyle>
      <a:lvl1pPr algn="l" defTabSz="797723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99431" indent="-199431" algn="l" defTabSz="797723" rtl="0" eaLnBrk="1" latinLnBrk="0" hangingPunct="1">
        <a:lnSpc>
          <a:spcPct val="90000"/>
        </a:lnSpc>
        <a:spcBef>
          <a:spcPts val="87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98292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97153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96014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794876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193737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6pPr>
      <a:lvl7pPr marL="2592598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7pPr>
      <a:lvl8pPr marL="2991460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8pPr>
      <a:lvl9pPr marL="3390321" indent="-199431" algn="l" defTabSz="79772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5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1pPr>
      <a:lvl2pPr marL="398861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2pPr>
      <a:lvl3pPr marL="797723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3pPr>
      <a:lvl4pPr marL="1196584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4pPr>
      <a:lvl5pPr marL="1595445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5pPr>
      <a:lvl6pPr marL="1994306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6pPr>
      <a:lvl7pPr marL="2393168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7pPr>
      <a:lvl8pPr marL="2792029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8pPr>
      <a:lvl9pPr marL="3190890" algn="l" defTabSz="797723" rtl="0" eaLnBrk="1" latinLnBrk="0" hangingPunct="1">
        <a:defRPr sz="15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55CA-0802-E447-A104-822E53E8C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342" y="1686081"/>
            <a:ext cx="7758504" cy="23833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33E90-BBEB-3C4A-9B73-0D6D47AC34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15" y="4233113"/>
            <a:ext cx="6845739" cy="165280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407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0" y="-1330843"/>
            <a:ext cx="7977188" cy="772043"/>
          </a:xfrm>
        </p:spPr>
        <p:txBody>
          <a:bodyPr/>
          <a:lstStyle/>
          <a:p>
            <a:r>
              <a:rPr/>
              <a:t>Average annual household energy costs in NEM states, by fuel source, 2025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0" y="0"/>
            <a:ext cx="7977600" cy="7977600"/>
            <a:chOff x="0" y="0"/>
            <a:chExt cx="7977600" cy="79776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7977600" cy="797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828" y="91440"/>
              <a:ext cx="7866043" cy="7596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</p:grp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0" y="-2100688"/>
            <a:ext cx="7977188" cy="746021"/>
          </a:xfrm>
        </p:spPr>
        <p:txBody>
          <a:bodyPr/>
          <a:lstStyle/>
          <a:p>
            <a:r>
              <a:rPr/>
              <a:t>Electricity forms just part of total household energy costs</a:t>
            </a:r>
          </a:p>
        </p:txBody>
      </p:sp>
      <p:sp>
        <p:nvSpPr>
          <p:cNvPr id="7" name="Caption Placeholder 1"/>
          <p:cNvSpPr>
            <a:spLocks noGrp="1"/>
          </p:cNvSpPr>
          <p:nvPr>
            <p:ph sz="quarter" idx="10"/>
          </p:nvPr>
        </p:nvSpPr>
        <p:spPr>
          <a:xfrm>
            <a:off x="8926513" y="-1633538"/>
            <a:ext cx="2460625" cy="2590801"/>
          </a:xfrm>
        </p:spPr>
        <p:txBody>
          <a:bodyPr/>
          <a:lstStyle/>
          <a:p>
            <a:r>
              <a:rPr/>
              <a:t>Notes: 
Source: Grattan Institute analaysis see app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bjjefferson</cp:lastModifiedBy>
  <cp:revision>38</cp:revision>
  <dcterms:created xsi:type="dcterms:W3CDTF">2019-02-12T04:35:04Z</dcterms:created>
  <dcterms:modified xsi:type="dcterms:W3CDTF">2025-08-06T15:26:40Z</dcterms:modified>
</cp:coreProperties>
</file>