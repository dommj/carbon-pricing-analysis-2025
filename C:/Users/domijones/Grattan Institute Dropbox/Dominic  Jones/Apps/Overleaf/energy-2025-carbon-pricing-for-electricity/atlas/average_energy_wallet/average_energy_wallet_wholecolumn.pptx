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.xml" ContentType="application/vnd.openxmlformats-officedocument.presentationml.notes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5" r:id="rId1"/>
  </p:sldMasterIdLst>
  <p:notesMasterIdLst>
    <p:notesMasterId r:id="rId8"/>
  </p:notesMasterIdLst>
  <p:sldIdLst>
    <p:sldId id="256" r:id="rId2"/>
    <p:sldId id="257" r:id="rId7"/>
  </p:sldIdLst>
  <p:sldSz cx="7977188" cy="79771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90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67"/>
    <p:restoredTop sz="94694"/>
  </p:normalViewPr>
  <p:slideViewPr>
    <p:cSldViewPr snapToGrid="0" snapToObjects="1">
      <p:cViewPr>
        <p:scale>
          <a:sx n="59" d="100"/>
          <a:sy n="59" d="100"/>
        </p:scale>
        <p:origin x="2896" y="1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presProps" Target="presProps.xml"/>
<Relationship Id="rId2" Type="http://schemas.openxmlformats.org/officeDocument/2006/relationships/slide" Target="slides/slide1.xml"/>
<Relationship Id="rId1" Type="http://schemas.openxmlformats.org/officeDocument/2006/relationships/slideMaster" Target="slideMasters/slideMaster1.xml"/>
<Relationship Id="rId6" Type="http://schemas.openxmlformats.org/officeDocument/2006/relationships/tableStyles" Target="tableStyles.xml"/>
<Relationship Id="rId5" Type="http://schemas.openxmlformats.org/officeDocument/2006/relationships/theme" Target="theme/theme1.xml"/>
<Relationship Id="rId4" Type="http://schemas.openxmlformats.org/officeDocument/2006/relationships/viewProps" Target="viewProps.xml"/>
<Relationship Id="rId7" Type="http://schemas.openxmlformats.org/officeDocument/2006/relationships/slide" Target="slides/slide2.xml"/>
<Relationship Id="rId8" Type="http://schemas.openxmlformats.org/officeDocument/2006/relationships/notesMaster" Target="notesMasters/notesMaster1.xml"/>
</Relationships>

</file>

<file path=ppt/notesMasters/_rels/notesMaster1.xml.rels><?xml version="1.0" encoding="UTF-8" standalone="yes"?>

<Relationships  xmlns="http://schemas.openxmlformats.org/package/2006/relationships">
<Relationship Id="rId1" Type="http://schemas.openxmlformats.org/officeDocument/2006/relationships/theme" Target="../theme/theme2.xml"/>
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/>
          </a:p>
        </p:txBody>
      </p:sp>
      <p:sp>
        <p:nvSpPr>
          <p:cNvPr id="1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171450" lvl="0" indent="-1714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Edit Master text styles</a:t>
            </a:r>
          </a:p>
          <a:p>
            <a:pPr marL="450850" lvl="1" indent="-17145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719138" lvl="2" indent="-1714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Third level</a:t>
            </a:r>
          </a:p>
          <a:p>
            <a:pPr marL="987425" lvl="3" indent="-171450" defTabSz="116998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1255713" lvl="4" indent="-1714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2.xml"/>
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
Powerpoint file location: Dropbox/Dominic  Jones/Apps/Overleaf/energy-2025-carbon-pricing-for-electricity/atlas/average_energy_wallet/average_energy_wallet_wholecolumn.pptx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8289" y="1305527"/>
            <a:ext cx="6780610" cy="2777243"/>
          </a:xfrm>
        </p:spPr>
        <p:txBody>
          <a:bodyPr anchor="b"/>
          <a:lstStyle>
            <a:lvl1pPr algn="ctr">
              <a:defRPr sz="523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7149" y="4189871"/>
            <a:ext cx="5982891" cy="1925973"/>
          </a:xfrm>
        </p:spPr>
        <p:txBody>
          <a:bodyPr/>
          <a:lstStyle>
            <a:lvl1pPr marL="0" indent="0" algn="ctr">
              <a:buNone/>
              <a:defRPr sz="2094"/>
            </a:lvl1pPr>
            <a:lvl2pPr marL="398861" indent="0" algn="ctr">
              <a:buNone/>
              <a:defRPr sz="1745"/>
            </a:lvl2pPr>
            <a:lvl3pPr marL="797723" indent="0" algn="ctr">
              <a:buNone/>
              <a:defRPr sz="1570"/>
            </a:lvl3pPr>
            <a:lvl4pPr marL="1196584" indent="0" algn="ctr">
              <a:buNone/>
              <a:defRPr sz="1396"/>
            </a:lvl4pPr>
            <a:lvl5pPr marL="1595445" indent="0" algn="ctr">
              <a:buNone/>
              <a:defRPr sz="1396"/>
            </a:lvl5pPr>
            <a:lvl6pPr marL="1994306" indent="0" algn="ctr">
              <a:buNone/>
              <a:defRPr sz="1396"/>
            </a:lvl6pPr>
            <a:lvl7pPr marL="2393168" indent="0" algn="ctr">
              <a:buNone/>
              <a:defRPr sz="1396"/>
            </a:lvl7pPr>
            <a:lvl8pPr marL="2792029" indent="0" algn="ctr">
              <a:buNone/>
              <a:defRPr sz="1396"/>
            </a:lvl8pPr>
            <a:lvl9pPr marL="3190890" indent="0" algn="ctr">
              <a:buNone/>
              <a:defRPr sz="1396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C0CC8-E12B-4B1E-958E-BC6C5916F6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949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827D-FC0C-184A-B855-165F1307D257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17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277" y="1988760"/>
            <a:ext cx="6880325" cy="3318288"/>
          </a:xfrm>
        </p:spPr>
        <p:txBody>
          <a:bodyPr anchor="b"/>
          <a:lstStyle>
            <a:lvl1pPr>
              <a:defRPr sz="523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277" y="5338440"/>
            <a:ext cx="6880325" cy="1745009"/>
          </a:xfrm>
        </p:spPr>
        <p:txBody>
          <a:bodyPr/>
          <a:lstStyle>
            <a:lvl1pPr marL="0" indent="0">
              <a:buNone/>
              <a:defRPr sz="2094">
                <a:solidFill>
                  <a:schemeClr val="tx1"/>
                </a:solidFill>
              </a:defRPr>
            </a:lvl1pPr>
            <a:lvl2pPr marL="398861" indent="0">
              <a:buNone/>
              <a:defRPr sz="1745">
                <a:solidFill>
                  <a:schemeClr val="tx1">
                    <a:tint val="75000"/>
                  </a:schemeClr>
                </a:solidFill>
              </a:defRPr>
            </a:lvl2pPr>
            <a:lvl3pPr marL="797723" indent="0">
              <a:buNone/>
              <a:defRPr sz="1570">
                <a:solidFill>
                  <a:schemeClr val="tx1">
                    <a:tint val="75000"/>
                  </a:schemeClr>
                </a:solidFill>
              </a:defRPr>
            </a:lvl3pPr>
            <a:lvl4pPr marL="1196584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4pPr>
            <a:lvl5pPr marL="1595445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5pPr>
            <a:lvl6pPr marL="1994306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6pPr>
            <a:lvl7pPr marL="2393168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7pPr>
            <a:lvl8pPr marL="2792029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8pPr>
            <a:lvl9pPr marL="3190890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827D-FC0C-184A-B855-165F1307D257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845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-2100688"/>
            <a:ext cx="7977188" cy="746021"/>
          </a:xfrm>
        </p:spPr>
        <p:txBody>
          <a:bodyPr/>
          <a:lstStyle/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0" y="-1330843"/>
            <a:ext cx="7977188" cy="77204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 </a:t>
            </a:r>
            <a:endParaRPr lang="en-US" dirty="0"/>
          </a:p>
        </p:txBody>
      </p:sp>
      <p:sp>
        <p:nvSpPr>
          <p:cNvPr id="4" name="Content Placeholder 3"/>
          <p:cNvSpPr>
            <a:spLocks noGrp="1" noChangeAspect="1"/>
          </p:cNvSpPr>
          <p:nvPr>
            <p:ph sz="half" idx="2"/>
          </p:nvPr>
        </p:nvSpPr>
        <p:spPr>
          <a:xfrm>
            <a:off x="0" y="0"/>
            <a:ext cx="7977600" cy="79776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Caption Placeholder 1">
            <a:extLst>
              <a:ext uri="{FF2B5EF4-FFF2-40B4-BE49-F238E27FC236}">
                <a16:creationId xmlns:a16="http://schemas.microsoft.com/office/drawing/2014/main" id="{CB53B34F-3514-88FE-3AF1-811EBBCF084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926513" y="-1633538"/>
            <a:ext cx="2460625" cy="2590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524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17464-26F0-F70E-03FB-7D458DC13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8724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E868C-2161-3F70-9E5A-5C38113B1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2309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ED932-2FE5-9703-B8AE-C45091E0F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5552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432" y="424713"/>
            <a:ext cx="6880325" cy="15418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432" y="2123557"/>
            <a:ext cx="6880325" cy="50614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8432" y="7393673"/>
            <a:ext cx="1794867" cy="4247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4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12/28/22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2444" y="7393673"/>
            <a:ext cx="2692301" cy="4247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4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33889" y="7393673"/>
            <a:ext cx="1794867" cy="4247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4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902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</p:sldLayoutIdLst>
  <p:txStyles>
    <p:titleStyle>
      <a:lvl1pPr algn="l" defTabSz="797723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99431" indent="-199431" algn="l" defTabSz="797723" rtl="0" eaLnBrk="1" latinLnBrk="0" hangingPunct="1">
        <a:lnSpc>
          <a:spcPct val="90000"/>
        </a:lnSpc>
        <a:spcBef>
          <a:spcPts val="872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98292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97153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96014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794876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193737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592598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991460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390321" indent="-199431" algn="l" defTabSz="797723" rtl="0" eaLnBrk="1" latinLnBrk="0" hangingPunct="1">
        <a:lnSpc>
          <a:spcPct val="90000"/>
        </a:lnSpc>
        <a:spcBef>
          <a:spcPts val="436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1pPr>
      <a:lvl2pPr marL="398861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2pPr>
      <a:lvl3pPr marL="797723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3pPr>
      <a:lvl4pPr marL="1196584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595445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1994306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393168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792029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190890" algn="l" defTabSz="797723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notesSlide" Target="../notesSlides/notesSlide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555CA-0802-E447-A104-822E53E8CC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342" y="1686081"/>
            <a:ext cx="7758504" cy="23833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633E90-BBEB-3C4A-9B73-0D6D47AC34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15" y="4233113"/>
            <a:ext cx="6845739" cy="165280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407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0" y="-1330843"/>
            <a:ext cx="7977188" cy="772043"/>
          </a:xfrm>
        </p:spPr>
        <p:txBody>
          <a:bodyPr/>
          <a:lstStyle/>
          <a:p>
            <a:r>
              <a:rPr/>
              <a:t>Average annual household energy costs in NEM states, by fuel source, 2025</a:t>
            </a:r>
          </a:p>
        </p:txBody>
      </p:sp>
      <p:grpSp xmlns:pic="http://schemas.openxmlformats.org/drawingml/2006/picture">
        <p:nvGrpSpPr>
          <p:cNvPr id="3" name="Content Placeholder 3"/>
          <p:cNvGrpSpPr/>
          <p:nvPr/>
        </p:nvGrpSpPr>
        <p:grpSpPr>
          <a:xfrm>
            <a:off x="0" y="0"/>
            <a:ext cx="7977600" cy="7977600"/>
            <a:chOff x="0" y="0"/>
            <a:chExt cx="7977600" cy="7977600"/>
          </a:xfrm>
        </p:grpSpPr>
        <p:sp>
          <p:nvSpPr>
            <p:cNvPr id="4" name="rc3"/>
            <p:cNvSpPr/>
            <p:nvPr/>
          </p:nvSpPr>
          <p:spPr>
            <a:xfrm>
              <a:off x="0" y="0"/>
              <a:ext cx="7977600" cy="797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803509" y="91440"/>
              <a:ext cx="7064362" cy="724901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803509" y="7340452"/>
              <a:ext cx="7064362" cy="0"/>
            </a:xfrm>
            <a:custGeom>
              <a:avLst/>
              <a:pathLst>
                <a:path w="7064362" h="0">
                  <a:moveTo>
                    <a:pt x="0" y="0"/>
                  </a:moveTo>
                  <a:lnTo>
                    <a:pt x="7064362" y="0"/>
                  </a:lnTo>
                  <a:lnTo>
                    <a:pt x="706436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803509" y="5071534"/>
              <a:ext cx="7064362" cy="0"/>
            </a:xfrm>
            <a:custGeom>
              <a:avLst/>
              <a:pathLst>
                <a:path w="7064362" h="0">
                  <a:moveTo>
                    <a:pt x="0" y="0"/>
                  </a:moveTo>
                  <a:lnTo>
                    <a:pt x="7064362" y="0"/>
                  </a:lnTo>
                  <a:lnTo>
                    <a:pt x="706436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803509" y="2802617"/>
              <a:ext cx="7064362" cy="0"/>
            </a:xfrm>
            <a:custGeom>
              <a:avLst/>
              <a:pathLst>
                <a:path w="7064362" h="0">
                  <a:moveTo>
                    <a:pt x="0" y="0"/>
                  </a:moveTo>
                  <a:lnTo>
                    <a:pt x="7064362" y="0"/>
                  </a:lnTo>
                  <a:lnTo>
                    <a:pt x="706436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803509" y="533699"/>
              <a:ext cx="7064362" cy="0"/>
            </a:xfrm>
            <a:custGeom>
              <a:avLst/>
              <a:pathLst>
                <a:path w="7064362" h="0">
                  <a:moveTo>
                    <a:pt x="0" y="0"/>
                  </a:moveTo>
                  <a:lnTo>
                    <a:pt x="7064362" y="0"/>
                  </a:lnTo>
                  <a:lnTo>
                    <a:pt x="706436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3342264" y="2740071"/>
              <a:ext cx="1986852" cy="4600380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5B50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5549877" y="5807048"/>
              <a:ext cx="1986852" cy="1533403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EF79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1134651" y="198568"/>
              <a:ext cx="1986852" cy="7141883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A1253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tx12"/>
            <p:cNvSpPr/>
            <p:nvPr/>
          </p:nvSpPr>
          <p:spPr>
            <a:xfrm>
              <a:off x="446750" y="7218729"/>
              <a:ext cx="254272" cy="2037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$0</a:t>
              </a:r>
            </a:p>
          </p:txBody>
        </p:sp>
        <p:sp>
          <p:nvSpPr>
            <p:cNvPr id="14" name="tx13"/>
            <p:cNvSpPr/>
            <p:nvPr/>
          </p:nvSpPr>
          <p:spPr>
            <a:xfrm>
              <a:off x="1828" y="4942333"/>
              <a:ext cx="699194" cy="2111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$1,000</a:t>
              </a:r>
            </a:p>
          </p:txBody>
        </p:sp>
        <p:sp>
          <p:nvSpPr>
            <p:cNvPr id="15" name="tx14"/>
            <p:cNvSpPr/>
            <p:nvPr/>
          </p:nvSpPr>
          <p:spPr>
            <a:xfrm>
              <a:off x="1828" y="2673415"/>
              <a:ext cx="699194" cy="2111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$2,000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1828" y="404498"/>
              <a:ext cx="699194" cy="2111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$3,000</a:t>
              </a:r>
            </a:p>
          </p:txBody>
        </p:sp>
        <p:sp>
          <p:nvSpPr>
            <p:cNvPr id="17" name="pl16"/>
            <p:cNvSpPr/>
            <p:nvPr/>
          </p:nvSpPr>
          <p:spPr>
            <a:xfrm>
              <a:off x="803509" y="7340452"/>
              <a:ext cx="7064362" cy="0"/>
            </a:xfrm>
            <a:custGeom>
              <a:avLst/>
              <a:pathLst>
                <a:path w="7064362" h="0">
                  <a:moveTo>
                    <a:pt x="0" y="0"/>
                  </a:moveTo>
                  <a:lnTo>
                    <a:pt x="7064362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128077" y="7340452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4335690" y="7340452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6543303" y="7340452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tx20"/>
            <p:cNvSpPr/>
            <p:nvPr/>
          </p:nvSpPr>
          <p:spPr>
            <a:xfrm>
              <a:off x="1829490" y="7468950"/>
              <a:ext cx="597172" cy="1683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Petrol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3846678" y="7424302"/>
              <a:ext cx="978024" cy="2129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Electricity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6333679" y="7464262"/>
              <a:ext cx="419248" cy="17301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Gas</a:t>
              </a:r>
            </a:p>
          </p:txBody>
        </p:sp>
      </p:grpSp>
      <p:sp>
        <p:nvSpPr>
          <p:cNvPr id="24" name="Title 1"/>
          <p:cNvSpPr>
            <a:spLocks noGrp="1"/>
          </p:cNvSpPr>
          <p:nvPr>
            <p:ph type="title" hasCustomPrompt="1"/>
          </p:nvPr>
        </p:nvSpPr>
        <p:spPr>
          <a:xfrm>
            <a:off x="0" y="-2100688"/>
            <a:ext cx="7977188" cy="746021"/>
          </a:xfrm>
        </p:spPr>
        <p:txBody>
          <a:bodyPr/>
          <a:lstStyle/>
          <a:p>
            <a:r>
              <a:rPr/>
              <a:t>Electricity forms just part of total household energy costs</a:t>
            </a:r>
          </a:p>
        </p:txBody>
      </p:sp>
      <p:sp>
        <p:nvSpPr>
          <p:cNvPr id="25" name="Caption Placeholder 1"/>
          <p:cNvSpPr>
            <a:spLocks noGrp="1"/>
          </p:cNvSpPr>
          <p:nvPr>
            <p:ph sz="quarter" idx="10"/>
          </p:nvPr>
        </p:nvSpPr>
        <p:spPr>
          <a:xfrm>
            <a:off x="8926513" y="-1633538"/>
            <a:ext cx="2460625" cy="2590801"/>
          </a:xfrm>
        </p:spPr>
        <p:txBody>
          <a:bodyPr/>
          <a:lstStyle/>
          <a:p>
            <a:r>
              <a:rPr/>
              <a:t>Notes: 
Source: Grattan Institute analaysis see app 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Matt Cowgill</dc:creator>
  <cp:lastModifiedBy>bjjefferson</cp:lastModifiedBy>
  <cp:revision>38</cp:revision>
  <dcterms:created xsi:type="dcterms:W3CDTF">2019-02-12T04:35:04Z</dcterms:created>
  <dcterms:modified xsi:type="dcterms:W3CDTF">2025-08-12T13:38:11Z</dcterms:modified>
</cp:coreProperties>
</file>