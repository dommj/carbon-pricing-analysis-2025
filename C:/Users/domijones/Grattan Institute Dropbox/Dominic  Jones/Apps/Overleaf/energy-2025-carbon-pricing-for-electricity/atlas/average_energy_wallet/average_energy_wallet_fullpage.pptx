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15955963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46" d="100"/>
          <a:sy n="46" d="100"/>
        </p:scale>
        <p:origin x="325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2.xml"/>
<Relationship Id="rId8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Jones/Apps/Overleaf/energy-2025-carbon-pricing-for-electricity/atlas/average_energy_wallet/average_energy_wallet_fullpage.pptx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496" y="1305527"/>
            <a:ext cx="11966972" cy="2777243"/>
          </a:xfrm>
        </p:spPr>
        <p:txBody>
          <a:bodyPr anchor="b"/>
          <a:lstStyle>
            <a:lvl1pPr algn="ctr"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4496" y="4189871"/>
            <a:ext cx="11966972" cy="1925973"/>
          </a:xfrm>
        </p:spPr>
        <p:txBody>
          <a:bodyPr/>
          <a:lstStyle>
            <a:lvl1pPr marL="0" indent="0" algn="ctr">
              <a:buNone/>
              <a:defRPr sz="2792"/>
            </a:lvl1pPr>
            <a:lvl2pPr marL="531815" indent="0" algn="ctr">
              <a:buNone/>
              <a:defRPr sz="2326"/>
            </a:lvl2pPr>
            <a:lvl3pPr marL="1063630" indent="0" algn="ctr">
              <a:buNone/>
              <a:defRPr sz="2094"/>
            </a:lvl3pPr>
            <a:lvl4pPr marL="1595445" indent="0" algn="ctr">
              <a:buNone/>
              <a:defRPr sz="1861"/>
            </a:lvl4pPr>
            <a:lvl5pPr marL="2127260" indent="0" algn="ctr">
              <a:buNone/>
              <a:defRPr sz="1861"/>
            </a:lvl5pPr>
            <a:lvl6pPr marL="2659075" indent="0" algn="ctr">
              <a:buNone/>
              <a:defRPr sz="1861"/>
            </a:lvl6pPr>
            <a:lvl7pPr marL="3190890" indent="0" algn="ctr">
              <a:buNone/>
              <a:defRPr sz="1861"/>
            </a:lvl7pPr>
            <a:lvl8pPr marL="3722705" indent="0" algn="ctr">
              <a:buNone/>
              <a:defRPr sz="1861"/>
            </a:lvl8pPr>
            <a:lvl9pPr marL="4254520" indent="0" algn="ctr">
              <a:buNone/>
              <a:defRPr sz="186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62" y="1988758"/>
            <a:ext cx="13762018" cy="3318288"/>
          </a:xfrm>
        </p:spPr>
        <p:txBody>
          <a:bodyPr anchor="b"/>
          <a:lstStyle>
            <a:lvl1pPr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62" y="5338439"/>
            <a:ext cx="13762018" cy="1745009"/>
          </a:xfrm>
        </p:spPr>
        <p:txBody>
          <a:bodyPr/>
          <a:lstStyle>
            <a:lvl1pPr marL="0" indent="0">
              <a:buNone/>
              <a:defRPr sz="2792">
                <a:solidFill>
                  <a:schemeClr val="tx1">
                    <a:tint val="75000"/>
                  </a:schemeClr>
                </a:solidFill>
              </a:defRPr>
            </a:lvl1pPr>
            <a:lvl2pPr marL="531815" indent="0">
              <a:buNone/>
              <a:defRPr sz="2326">
                <a:solidFill>
                  <a:schemeClr val="tx1">
                    <a:tint val="75000"/>
                  </a:schemeClr>
                </a:solidFill>
              </a:defRPr>
            </a:lvl2pPr>
            <a:lvl3pPr marL="1063630" indent="0">
              <a:buNone/>
              <a:defRPr sz="2094">
                <a:solidFill>
                  <a:schemeClr val="tx1">
                    <a:tint val="75000"/>
                  </a:schemeClr>
                </a:solidFill>
              </a:defRPr>
            </a:lvl3pPr>
            <a:lvl4pPr marL="159544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4pPr>
            <a:lvl5pPr marL="212726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5pPr>
            <a:lvl6pPr marL="265907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6pPr>
            <a:lvl7pPr marL="319089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7pPr>
            <a:lvl8pPr marL="372270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8pPr>
            <a:lvl9pPr marL="425452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15955200" cy="797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D38CE8C8-8AEA-56B1-3B41-9467B20BED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55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9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27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73" y="424712"/>
            <a:ext cx="13762018" cy="1541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73" y="2123557"/>
            <a:ext cx="13762018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72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5413" y="7393672"/>
            <a:ext cx="5385138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68899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8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106363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5908" indent="-265908" algn="l" defTabSz="1063630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772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2953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6135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39316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2498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45679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98861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52042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3181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106363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3pPr>
      <a:lvl4pPr marL="159544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4pPr>
      <a:lvl5pPr marL="212726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5pPr>
      <a:lvl6pPr marL="265907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19089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72270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25452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8729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902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/>
          <a:p>
            <a:r>
              <a:rPr/>
              <a:t>Average annual household energy costs in NEM states, by fuel source, 2025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15955200" cy="7977600"/>
            <a:chOff x="0" y="0"/>
            <a:chExt cx="159552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159552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03509" y="91440"/>
              <a:ext cx="15041962" cy="72490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03509" y="7340452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3509" y="5071534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03509" y="2802617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03509" y="533699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6209214" y="2740071"/>
              <a:ext cx="4230552" cy="460038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5B50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0909827" y="5807048"/>
              <a:ext cx="4230552" cy="15334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EF79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508601" y="198568"/>
              <a:ext cx="4230552" cy="714188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A1253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446750" y="7218729"/>
              <a:ext cx="254272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1828" y="4942333"/>
              <a:ext cx="699194" cy="2111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$1,000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1828" y="2673415"/>
              <a:ext cx="699194" cy="2111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$2,000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828" y="404498"/>
              <a:ext cx="699194" cy="2111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$3,000</a:t>
              </a:r>
            </a:p>
          </p:txBody>
        </p:sp>
        <p:sp>
          <p:nvSpPr>
            <p:cNvPr id="17" name="pl16"/>
            <p:cNvSpPr/>
            <p:nvPr/>
          </p:nvSpPr>
          <p:spPr>
            <a:xfrm>
              <a:off x="803509" y="7340452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3623877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324490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3025103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3325290" y="7468950"/>
              <a:ext cx="59717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Petrol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835478" y="7424302"/>
              <a:ext cx="978024" cy="2129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Electricity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2815479" y="7464262"/>
              <a:ext cx="419248" cy="1730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Gas</a:t>
              </a:r>
            </a:p>
          </p:txBody>
        </p:sp>
      </p:grpSp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/>
              <a:t>Electricity forms just part of total household energy costs</a:t>
            </a:r>
          </a:p>
        </p:txBody>
      </p:sp>
      <p:sp>
        <p:nvSpPr>
          <p:cNvPr id="25" name="Caption Placeholder 1"/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bjjefferson</cp:lastModifiedBy>
  <cp:revision>38</cp:revision>
  <dcterms:created xsi:type="dcterms:W3CDTF">2019-02-12T04:35:04Z</dcterms:created>
  <dcterms:modified xsi:type="dcterms:W3CDTF">2025-08-12T13:38:11Z</dcterms:modified>
</cp:coreProperties>
</file>