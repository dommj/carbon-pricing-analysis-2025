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8"/>
  </p:notesMasterIdLst>
  <p:sldIdLst>
    <p:sldId id="256" r:id="rId2"/>
    <p:sldId id="257" r:id="rId7"/>
  </p:sldIdLst>
  <p:sldSz cx="15955963" cy="79771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>
        <p:scale>
          <a:sx n="46" d="100"/>
          <a:sy n="46" d="100"/>
        </p:scale>
        <p:origin x="3256" y="1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2" Type="http://schemas.openxmlformats.org/officeDocument/2006/relationships/slide" Target="slides/slide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7" Type="http://schemas.openxmlformats.org/officeDocument/2006/relationships/slide" Target="slides/slide2.xml"/>
<Relationship Id="rId8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Dropbox/Dominic  Jones/Apps/Overleaf/energy-2025-carbon-pricing-for-electricity/atlas/average_energy_wallet/average_energy_wallet_fullpage.pptx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94496" y="1305527"/>
            <a:ext cx="11966972" cy="2777243"/>
          </a:xfrm>
        </p:spPr>
        <p:txBody>
          <a:bodyPr anchor="b"/>
          <a:lstStyle>
            <a:lvl1pPr algn="ctr">
              <a:defRPr sz="69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94496" y="4189871"/>
            <a:ext cx="11966972" cy="1925973"/>
          </a:xfrm>
        </p:spPr>
        <p:txBody>
          <a:bodyPr/>
          <a:lstStyle>
            <a:lvl1pPr marL="0" indent="0" algn="ctr">
              <a:buNone/>
              <a:defRPr sz="2792"/>
            </a:lvl1pPr>
            <a:lvl2pPr marL="531815" indent="0" algn="ctr">
              <a:buNone/>
              <a:defRPr sz="2326"/>
            </a:lvl2pPr>
            <a:lvl3pPr marL="1063630" indent="0" algn="ctr">
              <a:buNone/>
              <a:defRPr sz="2094"/>
            </a:lvl3pPr>
            <a:lvl4pPr marL="1595445" indent="0" algn="ctr">
              <a:buNone/>
              <a:defRPr sz="1861"/>
            </a:lvl4pPr>
            <a:lvl5pPr marL="2127260" indent="0" algn="ctr">
              <a:buNone/>
              <a:defRPr sz="1861"/>
            </a:lvl5pPr>
            <a:lvl6pPr marL="2659075" indent="0" algn="ctr">
              <a:buNone/>
              <a:defRPr sz="1861"/>
            </a:lvl6pPr>
            <a:lvl7pPr marL="3190890" indent="0" algn="ctr">
              <a:buNone/>
              <a:defRPr sz="1861"/>
            </a:lvl7pPr>
            <a:lvl8pPr marL="3722705" indent="0" algn="ctr">
              <a:buNone/>
              <a:defRPr sz="1861"/>
            </a:lvl8pPr>
            <a:lvl9pPr marL="4254520" indent="0" algn="ctr">
              <a:buNone/>
              <a:defRPr sz="1861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26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9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662" y="1988758"/>
            <a:ext cx="13762018" cy="3318288"/>
          </a:xfrm>
        </p:spPr>
        <p:txBody>
          <a:bodyPr anchor="b"/>
          <a:lstStyle>
            <a:lvl1pPr>
              <a:defRPr sz="69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62" y="5338439"/>
            <a:ext cx="13762018" cy="1745009"/>
          </a:xfrm>
        </p:spPr>
        <p:txBody>
          <a:bodyPr/>
          <a:lstStyle>
            <a:lvl1pPr marL="0" indent="0">
              <a:buNone/>
              <a:defRPr sz="2792">
                <a:solidFill>
                  <a:schemeClr val="tx1">
                    <a:tint val="75000"/>
                  </a:schemeClr>
                </a:solidFill>
              </a:defRPr>
            </a:lvl1pPr>
            <a:lvl2pPr marL="531815" indent="0">
              <a:buNone/>
              <a:defRPr sz="2326">
                <a:solidFill>
                  <a:schemeClr val="tx1">
                    <a:tint val="75000"/>
                  </a:schemeClr>
                </a:solidFill>
              </a:defRPr>
            </a:lvl2pPr>
            <a:lvl3pPr marL="1063630" indent="0">
              <a:buNone/>
              <a:defRPr sz="2094">
                <a:solidFill>
                  <a:schemeClr val="tx1">
                    <a:tint val="75000"/>
                  </a:schemeClr>
                </a:solidFill>
              </a:defRPr>
            </a:lvl3pPr>
            <a:lvl4pPr marL="1595445" indent="0">
              <a:buNone/>
              <a:defRPr sz="1861">
                <a:solidFill>
                  <a:schemeClr val="tx1">
                    <a:tint val="75000"/>
                  </a:schemeClr>
                </a:solidFill>
              </a:defRPr>
            </a:lvl4pPr>
            <a:lvl5pPr marL="2127260" indent="0">
              <a:buNone/>
              <a:defRPr sz="1861">
                <a:solidFill>
                  <a:schemeClr val="tx1">
                    <a:tint val="75000"/>
                  </a:schemeClr>
                </a:solidFill>
              </a:defRPr>
            </a:lvl5pPr>
            <a:lvl6pPr marL="2659075" indent="0">
              <a:buNone/>
              <a:defRPr sz="1861">
                <a:solidFill>
                  <a:schemeClr val="tx1">
                    <a:tint val="75000"/>
                  </a:schemeClr>
                </a:solidFill>
              </a:defRPr>
            </a:lvl6pPr>
            <a:lvl7pPr marL="3190890" indent="0">
              <a:buNone/>
              <a:defRPr sz="1861">
                <a:solidFill>
                  <a:schemeClr val="tx1">
                    <a:tint val="75000"/>
                  </a:schemeClr>
                </a:solidFill>
              </a:defRPr>
            </a:lvl7pPr>
            <a:lvl8pPr marL="3722705" indent="0">
              <a:buNone/>
              <a:defRPr sz="1861">
                <a:solidFill>
                  <a:schemeClr val="tx1">
                    <a:tint val="75000"/>
                  </a:schemeClr>
                </a:solidFill>
              </a:defRPr>
            </a:lvl8pPr>
            <a:lvl9pPr marL="4254520" indent="0">
              <a:buNone/>
              <a:defRPr sz="186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175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-1" y="-2595190"/>
            <a:ext cx="15955963" cy="1087666"/>
          </a:xfrm>
        </p:spPr>
        <p:txBody>
          <a:bodyPr/>
          <a:lstStyle/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-1" y="-1212767"/>
            <a:ext cx="15955963" cy="101506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 noChangeAspect="1"/>
          </p:cNvSpPr>
          <p:nvPr>
            <p:ph sz="half" idx="2"/>
          </p:nvPr>
        </p:nvSpPr>
        <p:spPr>
          <a:xfrm>
            <a:off x="0" y="0"/>
            <a:ext cx="15955200" cy="79776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D38CE8C8-8AEA-56B1-3B41-9467B20BEDF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7789525" y="-2355850"/>
            <a:ext cx="4627130" cy="23558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932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84550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50693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93270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6973" y="424712"/>
            <a:ext cx="13762018" cy="15418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6973" y="2123557"/>
            <a:ext cx="13762018" cy="50614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6972" y="7393672"/>
            <a:ext cx="3590092" cy="424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9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12/28/22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85413" y="7393672"/>
            <a:ext cx="5385138" cy="424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9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68899" y="7393672"/>
            <a:ext cx="3590092" cy="424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9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6980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</p:sldLayoutIdLst>
  <p:txStyles>
    <p:titleStyle>
      <a:lvl1pPr algn="l" defTabSz="1063630" rtl="0" eaLnBrk="1" latinLnBrk="0" hangingPunct="1">
        <a:lnSpc>
          <a:spcPct val="90000"/>
        </a:lnSpc>
        <a:spcBef>
          <a:spcPct val="0"/>
        </a:spcBef>
        <a:buNone/>
        <a:defRPr sz="22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65908" indent="-265908" algn="l" defTabSz="1063630" rtl="0" eaLnBrk="1" latinLnBrk="0" hangingPunct="1">
        <a:lnSpc>
          <a:spcPct val="90000"/>
        </a:lnSpc>
        <a:spcBef>
          <a:spcPts val="116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7723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329538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861353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393168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924983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2094" kern="1200">
          <a:solidFill>
            <a:schemeClr val="tx1"/>
          </a:solidFill>
          <a:latin typeface="+mn-lt"/>
          <a:ea typeface="+mn-ea"/>
          <a:cs typeface="+mn-cs"/>
        </a:defRPr>
      </a:lvl6pPr>
      <a:lvl7pPr marL="3456798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2094" kern="1200">
          <a:solidFill>
            <a:schemeClr val="tx1"/>
          </a:solidFill>
          <a:latin typeface="+mn-lt"/>
          <a:ea typeface="+mn-ea"/>
          <a:cs typeface="+mn-cs"/>
        </a:defRPr>
      </a:lvl7pPr>
      <a:lvl8pPr marL="3988613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2094" kern="1200">
          <a:solidFill>
            <a:schemeClr val="tx1"/>
          </a:solidFill>
          <a:latin typeface="+mn-lt"/>
          <a:ea typeface="+mn-ea"/>
          <a:cs typeface="+mn-cs"/>
        </a:defRPr>
      </a:lvl8pPr>
      <a:lvl9pPr marL="4520428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20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1pPr>
      <a:lvl2pPr marL="531815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2pPr>
      <a:lvl3pPr marL="1063630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3pPr>
      <a:lvl4pPr marL="1595445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4pPr>
      <a:lvl5pPr marL="2127260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5pPr>
      <a:lvl6pPr marL="2659075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6pPr>
      <a:lvl7pPr marL="3190890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7pPr>
      <a:lvl8pPr marL="3722705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8pPr>
      <a:lvl9pPr marL="4254520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555CA-0802-E447-A104-822E53E8C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98729" y="1686081"/>
            <a:ext cx="7758504" cy="23833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633E90-BBEB-3C4A-9B73-0D6D47AC34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26902" y="4233113"/>
            <a:ext cx="6845739" cy="165280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407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-1" y="-1212767"/>
            <a:ext cx="15955963" cy="1015060"/>
          </a:xfrm>
        </p:spPr>
        <p:txBody>
          <a:bodyPr/>
          <a:lstStyle/>
          <a:p>
            <a:r>
              <a:rPr/>
              <a:t>Average annual household energy costs in NEM states, by fuel source, 2025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0" y="0"/>
            <a:ext cx="15955200" cy="7977600"/>
            <a:chOff x="0" y="0"/>
            <a:chExt cx="15955200" cy="7977600"/>
          </a:xfrm>
        </p:grpSpPr>
        <p:sp>
          <p:nvSpPr>
            <p:cNvPr id="4" name="rc3"/>
            <p:cNvSpPr/>
            <p:nvPr/>
          </p:nvSpPr>
          <p:spPr>
            <a:xfrm>
              <a:off x="0" y="0"/>
              <a:ext cx="15955200" cy="797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828" y="91440"/>
              <a:ext cx="15843643" cy="7596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</p:grp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-1" y="-2595190"/>
            <a:ext cx="15955963" cy="1087666"/>
          </a:xfrm>
        </p:spPr>
        <p:txBody>
          <a:bodyPr/>
          <a:lstStyle/>
          <a:p>
            <a:r>
              <a:rPr/>
              <a:t>Electricity forms just part of total household energy costs</a:t>
            </a:r>
          </a:p>
        </p:txBody>
      </p:sp>
      <p:sp>
        <p:nvSpPr>
          <p:cNvPr id="7" name="Caption Placeholder 1"/>
          <p:cNvSpPr>
            <a:spLocks noGrp="1"/>
          </p:cNvSpPr>
          <p:nvPr>
            <p:ph sz="quarter" idx="10"/>
          </p:nvPr>
        </p:nvSpPr>
        <p:spPr>
          <a:xfrm>
            <a:off x="17789525" y="-2355850"/>
            <a:ext cx="4627130" cy="2355850"/>
          </a:xfrm>
        </p:spPr>
        <p:txBody>
          <a:bodyPr/>
          <a:lstStyle/>
          <a:p>
            <a:r>
              <a:rPr/>
              <a:t>Notes: 
Source: Grattan Institute analaysis see app 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bjjefferson</cp:lastModifiedBy>
  <cp:revision>38</cp:revision>
  <dcterms:created xsi:type="dcterms:W3CDTF">2019-02-12T04:35:04Z</dcterms:created>
  <dcterms:modified xsi:type="dcterms:W3CDTF">2025-08-06T15:26:40Z</dcterms:modified>
</cp:coreProperties>
</file>