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0" r:id="rId1"/>
  </p:sldMasterIdLst>
  <p:notesMasterIdLst>
    <p:notesMasterId r:id="rId8"/>
  </p:notesMasterIdLst>
  <p:sldIdLst>
    <p:sldId id="256" r:id="rId2"/>
    <p:sldId id="257" r:id="rId7"/>
  </p:sldIdLst>
  <p:sldSz cx="7977188" cy="52197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>
        <p:scale>
          <a:sx n="87" d="100"/>
          <a:sy n="87" d="100"/>
        </p:scale>
        <p:origin x="2200" y="1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2" Type="http://schemas.openxmlformats.org/officeDocument/2006/relationships/slide" Target="slides/slide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7" Type="http://schemas.openxmlformats.org/officeDocument/2006/relationships/slide" Target="slides/slide2.xml"/>
<Relationship Id="rId8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Dropbox/Dominic  Jones/Apps/Overleaf/energy-2025-carbon-pricing-for-electricity/atlas/average_energy_wallet/average_energy_wallet_normal.pptx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8289" y="854243"/>
            <a:ext cx="6780610" cy="1817229"/>
          </a:xfrm>
        </p:spPr>
        <p:txBody>
          <a:bodyPr anchor="b"/>
          <a:lstStyle>
            <a:lvl1pPr algn="ctr">
              <a:defRPr sz="456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7149" y="2741551"/>
            <a:ext cx="5982891" cy="1260219"/>
          </a:xfrm>
        </p:spPr>
        <p:txBody>
          <a:bodyPr/>
          <a:lstStyle>
            <a:lvl1pPr marL="0" indent="0" algn="ctr">
              <a:buNone/>
              <a:defRPr sz="1827"/>
            </a:lvl1pPr>
            <a:lvl2pPr marL="347975" indent="0" algn="ctr">
              <a:buNone/>
              <a:defRPr sz="1522"/>
            </a:lvl2pPr>
            <a:lvl3pPr marL="695950" indent="0" algn="ctr">
              <a:buNone/>
              <a:defRPr sz="1370"/>
            </a:lvl3pPr>
            <a:lvl4pPr marL="1043925" indent="0" algn="ctr">
              <a:buNone/>
              <a:defRPr sz="1218"/>
            </a:lvl4pPr>
            <a:lvl5pPr marL="1391900" indent="0" algn="ctr">
              <a:buNone/>
              <a:defRPr sz="1218"/>
            </a:lvl5pPr>
            <a:lvl6pPr marL="1739875" indent="0" algn="ctr">
              <a:buNone/>
              <a:defRPr sz="1218"/>
            </a:lvl6pPr>
            <a:lvl7pPr marL="2087850" indent="0" algn="ctr">
              <a:buNone/>
              <a:defRPr sz="1218"/>
            </a:lvl7pPr>
            <a:lvl8pPr marL="2435824" indent="0" algn="ctr">
              <a:buNone/>
              <a:defRPr sz="1218"/>
            </a:lvl8pPr>
            <a:lvl9pPr marL="2783799" indent="0" algn="ctr">
              <a:buNone/>
              <a:defRPr sz="1218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48432" y="4837890"/>
            <a:ext cx="1794867" cy="277901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2444" y="4837890"/>
            <a:ext cx="2692301" cy="2779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633889" y="4837890"/>
            <a:ext cx="1794867" cy="277901"/>
          </a:xfrm>
          <a:prstGeom prst="rect">
            <a:avLst/>
          </a:prstGeom>
        </p:spPr>
        <p:txBody>
          <a:bodyPr/>
          <a:lstStyle/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808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48432" y="4837890"/>
            <a:ext cx="1794867" cy="277901"/>
          </a:xfrm>
          <a:prstGeom prst="rect">
            <a:avLst/>
          </a:prstGeom>
        </p:spPr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2444" y="4837890"/>
            <a:ext cx="2692301" cy="2779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633889" y="4837890"/>
            <a:ext cx="1794867" cy="277901"/>
          </a:xfrm>
          <a:prstGeom prst="rect">
            <a:avLst/>
          </a:prstGeom>
        </p:spPr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9427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4277" y="1301302"/>
            <a:ext cx="6880325" cy="2171250"/>
          </a:xfrm>
        </p:spPr>
        <p:txBody>
          <a:bodyPr anchor="b"/>
          <a:lstStyle>
            <a:lvl1pPr>
              <a:defRPr sz="456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4277" y="3493092"/>
            <a:ext cx="6880325" cy="1141809"/>
          </a:xfrm>
        </p:spPr>
        <p:txBody>
          <a:bodyPr/>
          <a:lstStyle>
            <a:lvl1pPr marL="0" indent="0">
              <a:buNone/>
              <a:defRPr sz="1827">
                <a:solidFill>
                  <a:schemeClr val="tx1"/>
                </a:solidFill>
              </a:defRPr>
            </a:lvl1pPr>
            <a:lvl2pPr marL="347975" indent="0">
              <a:buNone/>
              <a:defRPr sz="1522">
                <a:solidFill>
                  <a:schemeClr val="tx1">
                    <a:tint val="75000"/>
                  </a:schemeClr>
                </a:solidFill>
              </a:defRPr>
            </a:lvl2pPr>
            <a:lvl3pPr marL="695950" indent="0">
              <a:buNone/>
              <a:defRPr sz="1370">
                <a:solidFill>
                  <a:schemeClr val="tx1">
                    <a:tint val="75000"/>
                  </a:schemeClr>
                </a:solidFill>
              </a:defRPr>
            </a:lvl3pPr>
            <a:lvl4pPr marL="1043925" indent="0">
              <a:buNone/>
              <a:defRPr sz="1218">
                <a:solidFill>
                  <a:schemeClr val="tx1">
                    <a:tint val="75000"/>
                  </a:schemeClr>
                </a:solidFill>
              </a:defRPr>
            </a:lvl4pPr>
            <a:lvl5pPr marL="1391900" indent="0">
              <a:buNone/>
              <a:defRPr sz="1218">
                <a:solidFill>
                  <a:schemeClr val="tx1">
                    <a:tint val="75000"/>
                  </a:schemeClr>
                </a:solidFill>
              </a:defRPr>
            </a:lvl5pPr>
            <a:lvl6pPr marL="1739875" indent="0">
              <a:buNone/>
              <a:defRPr sz="1218">
                <a:solidFill>
                  <a:schemeClr val="tx1">
                    <a:tint val="75000"/>
                  </a:schemeClr>
                </a:solidFill>
              </a:defRPr>
            </a:lvl6pPr>
            <a:lvl7pPr marL="2087850" indent="0">
              <a:buNone/>
              <a:defRPr sz="1218">
                <a:solidFill>
                  <a:schemeClr val="tx1">
                    <a:tint val="75000"/>
                  </a:schemeClr>
                </a:solidFill>
              </a:defRPr>
            </a:lvl7pPr>
            <a:lvl8pPr marL="2435824" indent="0">
              <a:buNone/>
              <a:defRPr sz="1218">
                <a:solidFill>
                  <a:schemeClr val="tx1">
                    <a:tint val="75000"/>
                  </a:schemeClr>
                </a:solidFill>
              </a:defRPr>
            </a:lvl8pPr>
            <a:lvl9pPr marL="2783799" indent="0">
              <a:buNone/>
              <a:defRPr sz="121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48432" y="4837890"/>
            <a:ext cx="1794867" cy="277901"/>
          </a:xfrm>
          <a:prstGeom prst="rect">
            <a:avLst/>
          </a:prstGeom>
        </p:spPr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2444" y="4837890"/>
            <a:ext cx="2692301" cy="2779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633889" y="4837890"/>
            <a:ext cx="1794867" cy="277901"/>
          </a:xfrm>
          <a:prstGeom prst="rect">
            <a:avLst/>
          </a:prstGeom>
        </p:spPr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16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-1608666"/>
            <a:ext cx="7977188" cy="667062"/>
          </a:xfrm>
        </p:spPr>
        <p:txBody>
          <a:bodyPr anchor="t"/>
          <a:lstStyle/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" y="-923701"/>
            <a:ext cx="7977188" cy="67913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 noChangeAspect="1"/>
          </p:cNvSpPr>
          <p:nvPr>
            <p:ph sz="half" idx="2"/>
          </p:nvPr>
        </p:nvSpPr>
        <p:spPr>
          <a:xfrm>
            <a:off x="0" y="0"/>
            <a:ext cx="7977600" cy="5220000"/>
          </a:xfrm>
        </p:spPr>
        <p:txBody>
          <a:bodyPr lIns="0" tIns="0" rIns="0" bIns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AF5EA265-8F08-B40E-312A-1E8FD775E2B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62950" y="-1755775"/>
            <a:ext cx="2860675" cy="66516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584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0918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58575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5163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432" y="277902"/>
            <a:ext cx="6880325" cy="1008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432" y="1389503"/>
            <a:ext cx="6880325" cy="33118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248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695950" rtl="0" eaLnBrk="1" latinLnBrk="0" hangingPunct="1">
        <a:lnSpc>
          <a:spcPct val="90000"/>
        </a:lnSpc>
        <a:spcBef>
          <a:spcPct val="0"/>
        </a:spcBef>
        <a:buNone/>
        <a:defRPr sz="22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3987" indent="-173987" algn="l" defTabSz="695950" rtl="0" eaLnBrk="1" latinLnBrk="0" hangingPunct="1">
        <a:lnSpc>
          <a:spcPct val="90000"/>
        </a:lnSpc>
        <a:spcBef>
          <a:spcPts val="76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21962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69937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17912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65887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913862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6pPr>
      <a:lvl7pPr marL="2261837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7pPr>
      <a:lvl8pPr marL="2609812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8pPr>
      <a:lvl9pPr marL="2957787" indent="-173987" algn="l" defTabSz="695950" rtl="0" eaLnBrk="1" latinLnBrk="0" hangingPunct="1">
        <a:lnSpc>
          <a:spcPct val="90000"/>
        </a:lnSpc>
        <a:spcBef>
          <a:spcPts val="381"/>
        </a:spcBef>
        <a:buFont typeface="Arial" panose="020B0604020202020204" pitchFamily="34" charset="0"/>
        <a:buChar char="•"/>
        <a:defRPr sz="13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1pPr>
      <a:lvl2pPr marL="347975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2pPr>
      <a:lvl3pPr marL="695950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3pPr>
      <a:lvl4pPr marL="1043925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4pPr>
      <a:lvl5pPr marL="1391900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5pPr>
      <a:lvl6pPr marL="1739875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6pPr>
      <a:lvl7pPr marL="2087850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7pPr>
      <a:lvl8pPr marL="2435824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8pPr>
      <a:lvl9pPr marL="2783799" algn="l" defTabSz="695950" rtl="0" eaLnBrk="1" latinLnBrk="0" hangingPunct="1">
        <a:defRPr sz="13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555CA-0802-E447-A104-822E53E8C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394" y="303213"/>
            <a:ext cx="7772400" cy="23876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633E90-BBEB-3C4A-9B73-0D6D47AC34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1513" y="2854807"/>
            <a:ext cx="6858000" cy="165576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407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" y="-923701"/>
            <a:ext cx="7977188" cy="679139"/>
          </a:xfrm>
        </p:spPr>
        <p:txBody>
          <a:bodyPr/>
          <a:lstStyle/>
          <a:p>
            <a:r>
              <a:rPr/>
              <a:t>Average annual household energy costs in NEM states, by fuel source, 2025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0" y="0"/>
            <a:ext cx="7977600" cy="5220000"/>
            <a:chOff x="0" y="0"/>
            <a:chExt cx="7977600" cy="5220000"/>
          </a:xfrm>
        </p:grpSpPr>
        <p:sp>
          <p:nvSpPr>
            <p:cNvPr id="4" name="rc3"/>
            <p:cNvSpPr/>
            <p:nvPr/>
          </p:nvSpPr>
          <p:spPr>
            <a:xfrm>
              <a:off x="0" y="0"/>
              <a:ext cx="7977600" cy="52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828" y="91439"/>
              <a:ext cx="7866043" cy="4838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</p:grp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0" y="-1608666"/>
            <a:ext cx="7977188" cy="667062"/>
          </a:xfrm>
        </p:spPr>
        <p:txBody>
          <a:bodyPr/>
          <a:lstStyle/>
          <a:p>
            <a:r>
              <a:rPr/>
              <a:t>Electricity forms just part of total household energy costs</a:t>
            </a:r>
          </a:p>
        </p:txBody>
      </p:sp>
      <p:sp>
        <p:nvSpPr>
          <p:cNvPr id="7" name="Caption Placeholder 1"/>
          <p:cNvSpPr>
            <a:spLocks noGrp="1"/>
          </p:cNvSpPr>
          <p:nvPr>
            <p:ph sz="quarter" idx="10"/>
          </p:nvPr>
        </p:nvSpPr>
        <p:spPr>
          <a:xfrm>
            <a:off x="8362950" y="-1755775"/>
            <a:ext cx="2860675" cy="665162"/>
          </a:xfrm>
        </p:spPr>
        <p:txBody>
          <a:bodyPr/>
          <a:lstStyle/>
          <a:p>
            <a:r>
              <a:rPr/>
              <a:t>Notes: 
Source: Grattan Institute analaysis see app 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bjjefferson</cp:lastModifiedBy>
  <cp:revision>37</cp:revision>
  <dcterms:created xsi:type="dcterms:W3CDTF">2019-02-12T04:35:04Z</dcterms:created>
  <dcterms:modified xsi:type="dcterms:W3CDTF">2025-08-06T15:26:40Z</dcterms:modified>
</cp:coreProperties>
</file>