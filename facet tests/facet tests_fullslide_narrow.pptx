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2" Type="http://schemas.openxmlformats.org/package/2006/relationships/metadata/thumbnail" Target="docProps/thumbnail.jpeg"/>
<Relationship Id="rId1" Type="http://schemas.openxmlformats.org/officeDocument/2006/relationships/officeDocument" Target="ppt/presentation.xml"/>
<Relationship Id="rId4" Type="http://schemas.openxmlformats.org/officeDocument/2006/relationships/extended-properties" Target="docProps/app.xml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31" r:id="rId1"/>
  </p:sldMasterIdLst>
  <p:notesMasterIdLst>
    <p:notesMasterId r:id="rId2"/>
  </p:notesMasterIdLst>
  <p:sldIdLst>
    <p:sldId id="256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C027A25-491E-F020-8D4D-24B2035FFD33}" name="Kat Clay" initials="KC" userId="S::kat.clay@grattaninstitute.edu.au::98d84789-129b-4d4d-9a75-a87bac8c8fd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4E6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194"/>
    <p:restoredTop sz="94694"/>
  </p:normalViewPr>
  <p:slideViewPr>
    <p:cSldViewPr snapToGrid="0" snapToObjects="1">
      <p:cViewPr varScale="1">
        <p:scale>
          <a:sx n="92" d="100"/>
          <a:sy n="92" d="100"/>
        </p:scale>
        <p:origin x="208" y="8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106" d="100"/>
          <a:sy n="106" d="100"/>
        </p:scale>
        <p:origin x="3620" y="56"/>
      </p:cViewPr>
      <p:guideLst/>
    </p:cSldViewPr>
  </p:notes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presProps" Target="presProps.xml"/>
<Relationship Id="rId7" Type="http://schemas.microsoft.com/office/2018/10/relationships/authors" Target="authors.xml"/>
<Relationship Id="rId2" Type="http://schemas.openxmlformats.org/officeDocument/2006/relationships/notesMaster" Target="notesMasters/notesMaster1.xml"/>
<Relationship Id="rId1" Type="http://schemas.openxmlformats.org/officeDocument/2006/relationships/slideMaster" Target="slideMasters/slideMaster1.xml"/>
<Relationship Id="rId6" Type="http://schemas.openxmlformats.org/officeDocument/2006/relationships/tableStyles" Target="tableStyles.xml"/>
<Relationship Id="rId5" Type="http://schemas.openxmlformats.org/officeDocument/2006/relationships/theme" Target="theme/theme1.xml"/>
<Relationship Id="rId4" Type="http://schemas.openxmlformats.org/officeDocument/2006/relationships/viewProps" Target="viewProps.xml"/>
<Relationship Id="rId8" Type="http://schemas.openxmlformats.org/officeDocument/2006/relationships/slide" Target="slides/slide1.xml"/>
</Relationships>
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375376-077A-8F42-9E71-155E70FB596E}" type="datetimeFigureOut">
              <a:rPr lang="en-US" smtClean="0"/>
              <a:t>4/3/25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E9419A-B53B-B044-8F99-D2573F3A84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3885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
<Relationships  xmlns="http://schemas.openxmlformats.org/package/2006/relationships">
<Relationship Id="rId1" Type="http://schemas.openxmlformats.org/officeDocument/2006/relationships/notesMaster" Target="../notesMasters/notesMaster1.xml"/>
<Relationship Id="rId2" Type="http://schemas.openxmlformats.org/officeDocument/2006/relationships/slide" Target="../slides/slide1.xml"/>
</Relationships>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/>
              <a:t>R script location: C:/Users/domijones/OneDrive - The University of Melbourne/Energy/Analysis/analysis_cp_dj_2025/R/create_charts.qmd
Powerpoint file location: C:\Users\domijones\OneDrive - The University of Melbourne\Energy\Analysis\analysis_cp_dj_2025\facet tests\facet tests_fullslide_narrow.pptx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ECBC2DE-EA68-5645-6DC4-19921CEEB0B0}"/>
              </a:ext>
            </a:extLst>
          </p:cNvPr>
          <p:cNvSpPr txBox="1"/>
          <p:nvPr userDrawn="1"/>
        </p:nvSpPr>
        <p:spPr>
          <a:xfrm>
            <a:off x="116541" y="129091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972C78F-E40D-3A6B-24C2-906FA20E603F}"/>
              </a:ext>
            </a:extLst>
          </p:cNvPr>
          <p:cNvSpPr/>
          <p:nvPr userDrawn="1"/>
        </p:nvSpPr>
        <p:spPr>
          <a:xfrm>
            <a:off x="-11575" y="0"/>
            <a:ext cx="12203575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2DD39A8-9F28-D01B-F290-1C31B5FA8F4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77400" y="5905970"/>
            <a:ext cx="1933575" cy="532929"/>
          </a:xfrm>
          <a:prstGeom prst="rect">
            <a:avLst/>
          </a:prstGeom>
        </p:spPr>
      </p:pic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9AC38636-A519-1DAA-F186-6178D64B122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-11575" y="0"/>
            <a:ext cx="4181474" cy="6858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picture here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F0A3FD-BE2F-A94A-0A45-53E6C58A00E0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5043488" y="5091113"/>
            <a:ext cx="1306512" cy="1206500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AU" dirty="0"/>
              <a:t>Insert headshot here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74C6B55-78E8-9DB5-56FA-E4A3B5705F8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64300" y="5141913"/>
            <a:ext cx="2335213" cy="339725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>
              <a:defRPr sz="11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Name and title</a:t>
            </a:r>
            <a:endParaRPr lang="en-AU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F4E9AF8-FC9F-0A5C-B569-D51DA3E363F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64300" y="5732462"/>
            <a:ext cx="2276475" cy="268287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Date</a:t>
            </a:r>
            <a:endParaRPr lang="en-AU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0FC04F8-DC87-4C48-7442-FA72D1647E2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14913" y="2014538"/>
            <a:ext cx="5573712" cy="1206500"/>
          </a:xfrm>
        </p:spPr>
        <p:txBody>
          <a:bodyPr/>
          <a:lstStyle>
            <a:lvl1pPr marL="0" indent="0">
              <a:buNone/>
              <a:defRPr sz="4000">
                <a:solidFill>
                  <a:schemeClr val="bg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Title</a:t>
            </a:r>
            <a:endParaRPr lang="en-AU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6DCF6FB1-F9E4-A648-B189-9DD172BB1E8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14913" y="3429000"/>
            <a:ext cx="5573712" cy="652463"/>
          </a:xfrm>
        </p:spPr>
        <p:txBody>
          <a:bodyPr>
            <a:normAutofit/>
          </a:bodyPr>
          <a:lstStyle>
            <a:lvl1pPr marL="0" indent="0">
              <a:buNone/>
              <a:defRPr sz="2400" b="0" cap="none" spc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defRPr>
            </a:lvl1pPr>
          </a:lstStyle>
          <a:p>
            <a:pPr lvl="0"/>
            <a:r>
              <a:rPr lang="en-US" dirty="0"/>
              <a:t>Subheading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316354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20FF13B-17DE-B58E-23D0-863404B8498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84C34C6-D93D-964F-98F1-8B05274CB5BF}" type="datetimeFigureOut">
              <a:rPr lang="en-US" smtClean="0"/>
              <a:t>4/3/25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D1C777A-97BF-664C-98A5-2907D0932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0620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8B1789E7-BA20-0780-FB52-B02484AC77D3}"/>
              </a:ext>
            </a:extLst>
          </p:cNvPr>
          <p:cNvSpPr/>
          <p:nvPr userDrawn="1"/>
        </p:nvSpPr>
        <p:spPr>
          <a:xfrm>
            <a:off x="0" y="-1"/>
            <a:ext cx="12192000" cy="115020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2B8918E-1EDB-7F60-9A99-7D4A0E14ABC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83883" y="349310"/>
            <a:ext cx="1622635" cy="576263"/>
          </a:xfrm>
          <a:prstGeom prst="rect">
            <a:avLst/>
          </a:prstGeom>
        </p:spPr>
      </p:pic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D7BE69A9-24E9-418A-68B9-AAE233480B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5482" y="6356350"/>
            <a:ext cx="31959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4C34C6-D93D-964F-98F1-8B05274CB5BF}" type="datetimeFigureOut">
              <a:rPr lang="en-US" smtClean="0"/>
              <a:t>4/3/25</a:t>
            </a:fld>
            <a:endParaRPr lang="en-US" dirty="0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7B216488-F6B2-C054-EB55-0F9A57D9C0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EECB45-057A-1EA2-2F6E-7C55F9459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482" y="339329"/>
            <a:ext cx="9637060" cy="5401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AA2F51-0C2E-D1D9-EFED-E3A2276D7D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481" y="1315299"/>
            <a:ext cx="11398531" cy="48362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DBAC65C7-BF2B-A350-909C-35D42AF84D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46320" y="6356350"/>
            <a:ext cx="31421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1C777A-97BF-664C-98A5-2907D09321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79066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+ orange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7CF076BF-B4D2-731F-A8C4-B4C0523DA8D6}"/>
              </a:ext>
            </a:extLst>
          </p:cNvPr>
          <p:cNvSpPr/>
          <p:nvPr userDrawn="1"/>
        </p:nvSpPr>
        <p:spPr>
          <a:xfrm>
            <a:off x="0" y="-1"/>
            <a:ext cx="12192000" cy="13295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CC0B9F51-D432-89C3-BAF5-11132AE404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5482" y="6356350"/>
            <a:ext cx="31959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4C34C6-D93D-964F-98F1-8B05274CB5BF}" type="datetimeFigureOut">
              <a:rPr lang="en-US" smtClean="0"/>
              <a:t>4/3/25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E482CF5D-DEBD-DB20-7858-2A857E71D9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6015322-31D2-917E-375B-3379430E14B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83883" y="349310"/>
            <a:ext cx="1622635" cy="576263"/>
          </a:xfrm>
          <a:prstGeom prst="rect">
            <a:avLst/>
          </a:prstGeom>
        </p:spPr>
      </p:pic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73A11B26-D536-E55C-FEA5-61BBE902EA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481" y="1535906"/>
            <a:ext cx="11398531" cy="46156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E6EC27F-20CE-4CCF-3D5C-A051E0347B27}"/>
              </a:ext>
            </a:extLst>
          </p:cNvPr>
          <p:cNvSpPr txBox="1">
            <a:spLocks/>
          </p:cNvSpPr>
          <p:nvPr userDrawn="1"/>
        </p:nvSpPr>
        <p:spPr>
          <a:xfrm>
            <a:off x="8646320" y="6356350"/>
            <a:ext cx="31421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D1C777A-97BF-664C-98A5-2907D09321D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C22FC4E-C0DC-E3DE-BD6B-D5CA5918036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5612" y="879474"/>
            <a:ext cx="6230937" cy="292100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subheading</a:t>
            </a:r>
            <a:endParaRPr lang="en-AU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2EE96F9-3E03-A2B8-1CAD-49604615B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36684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F927AB4-CA90-E951-65D7-A7115E4E9728}"/>
              </a:ext>
            </a:extLst>
          </p:cNvPr>
          <p:cNvSpPr/>
          <p:nvPr userDrawn="1"/>
        </p:nvSpPr>
        <p:spPr>
          <a:xfrm>
            <a:off x="0" y="-1"/>
            <a:ext cx="12192000" cy="115020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2C36E00-9570-96F4-957E-95AEE4FAB2B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83883" y="349310"/>
            <a:ext cx="1622635" cy="576263"/>
          </a:xfrm>
          <a:prstGeom prst="rect">
            <a:avLst/>
          </a:prstGeom>
        </p:spPr>
      </p:pic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74C90D1F-6BBA-97AB-88AA-507E0C7ADB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5482" y="6356350"/>
            <a:ext cx="31959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4C34C6-D93D-964F-98F1-8B05274CB5BF}" type="datetimeFigureOut">
              <a:rPr lang="en-US" smtClean="0"/>
              <a:t>4/3/25</a:t>
            </a:fld>
            <a:endParaRPr lang="en-US" dirty="0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721463F-DE73-8A1C-4B1D-EC55231461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BAB2FF0-4955-916C-E396-EBC8532A6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482" y="339329"/>
            <a:ext cx="9637060" cy="5401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8836AB3-6799-2DF5-B516-EDC045CE4E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46320" y="6356350"/>
            <a:ext cx="31421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1C777A-97BF-664C-98A5-2907D09321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48319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F927AB4-CA90-E951-65D7-A7115E4E9728}"/>
              </a:ext>
            </a:extLst>
          </p:cNvPr>
          <p:cNvSpPr/>
          <p:nvPr userDrawn="1"/>
        </p:nvSpPr>
        <p:spPr>
          <a:xfrm>
            <a:off x="0" y="-1"/>
            <a:ext cx="12192000" cy="115020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2C36E00-9570-96F4-957E-95AEE4FAB2B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83883" y="349310"/>
            <a:ext cx="1622635" cy="576263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8EC5B233-B10D-77D4-13F6-C9B4EACAB3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5482" y="367368"/>
            <a:ext cx="9637060" cy="5401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Click to add slide title</a:t>
            </a:r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7C09E446-08E7-FD8F-80D1-1B02D15A69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33794" y="6356350"/>
            <a:ext cx="7189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1C777A-97BF-664C-98A5-2907D09321D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CE07EA18-F774-5352-DF7D-C871920DBEBB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1894800" y="1807200"/>
            <a:ext cx="8402400" cy="4284662"/>
          </a:xfrm>
        </p:spPr>
        <p:txBody>
          <a:bodyPr/>
          <a:lstStyle/>
          <a:p>
            <a:r>
              <a:rPr lang="en-GB"/>
              <a:t>Click icon to add chart</a:t>
            </a:r>
            <a:endParaRPr lang="en-AU"/>
          </a:p>
        </p:txBody>
      </p:sp>
      <p:sp>
        <p:nvSpPr>
          <p:cNvPr id="4" name="Caption Placeholder 1">
            <a:extLst>
              <a:ext uri="{FF2B5EF4-FFF2-40B4-BE49-F238E27FC236}">
                <a16:creationId xmlns:a16="http://schemas.microsoft.com/office/drawing/2014/main" id="{532C8F0A-0D9B-4C4D-CC2B-EEF1FA341CC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1475" y="6239781"/>
            <a:ext cx="10662320" cy="455613"/>
          </a:xfrm>
        </p:spPr>
        <p:txBody>
          <a:bodyPr anchor="t">
            <a:normAutofit/>
          </a:bodyPr>
          <a:lstStyle>
            <a:lvl1pPr marL="0" indent="0">
              <a:spcBef>
                <a:spcPts val="200"/>
              </a:spcBef>
              <a:buNone/>
              <a:defRPr sz="800"/>
            </a:lvl1pPr>
          </a:lstStyle>
          <a:p>
            <a:pPr lvl="0"/>
            <a:r>
              <a:rPr lang="en-GB" dirty="0"/>
              <a:t>Insert source and notes here</a:t>
            </a:r>
            <a:endParaRPr lang="en-AU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5794EEF-8416-F4A3-9441-5437A54F06C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8478" y="1312069"/>
            <a:ext cx="11398531" cy="335156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GB" dirty="0"/>
              <a:t>Insert unit title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354036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423" userDrawn="1">
          <p15:clr>
            <a:srgbClr val="FBAE40"/>
          </p15:clr>
        </p15:guide>
        <p15:guide id="3" pos="234" userDrawn="1">
          <p15:clr>
            <a:srgbClr val="FBAE40"/>
          </p15:clr>
        </p15:guide>
        <p15:guide id="4" orient="horz" pos="3838" userDrawn="1">
          <p15:clr>
            <a:srgbClr val="FBAE40"/>
          </p15:clr>
        </p15:guide>
        <p15:guide id="5" orient="horz" pos="3929" userDrawn="1">
          <p15:clr>
            <a:srgbClr val="FBAE40"/>
          </p15:clr>
        </p15:guide>
        <p15:guide id="6" orient="horz" pos="1139" userDrawn="1">
          <p15:clr>
            <a:srgbClr val="FBAE40"/>
          </p15:clr>
        </p15:guide>
        <p15:guide id="7" orient="horz" pos="1049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5482" y="339329"/>
            <a:ext cx="9637060" cy="5401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5481" y="1315299"/>
            <a:ext cx="11398531" cy="48362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85482" y="6356350"/>
            <a:ext cx="31959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4C34C6-D93D-964F-98F1-8B05274CB5BF}" type="datetimeFigureOut">
              <a:rPr lang="en-AU" noProof="0" smtClean="0"/>
              <a:t>3/4/2025</a:t>
            </a:fld>
            <a:endParaRPr lang="en-AU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46320" y="6356350"/>
            <a:ext cx="31421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1C777A-97BF-664C-98A5-2907D09321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82634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4" r:id="rId2"/>
    <p:sldLayoutId id="2147483833" r:id="rId3"/>
    <p:sldLayoutId id="2147483844" r:id="rId4"/>
    <p:sldLayoutId id="2147483837" r:id="rId5"/>
    <p:sldLayoutId id="2147483856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DM Serif Display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34" userDrawn="1">
          <p15:clr>
            <a:srgbClr val="F26B43"/>
          </p15:clr>
        </p15:guide>
        <p15:guide id="2" pos="7423" userDrawn="1">
          <p15:clr>
            <a:srgbClr val="F26B43"/>
          </p15:clr>
        </p15:guide>
        <p15:guide id="3" orient="horz" pos="210" userDrawn="1">
          <p15:clr>
            <a:srgbClr val="F26B43"/>
          </p15:clr>
        </p15:guide>
        <p15:guide id="4" orient="horz" pos="572" userDrawn="1">
          <p15:clr>
            <a:srgbClr val="F26B43"/>
          </p15:clr>
        </p15:guide>
        <p15:guide id="5" orient="horz" pos="82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6.xml"/>
<Relationship Id="rId2" Type="http://schemas.openxmlformats.org/officeDocument/2006/relationships/notesSlide" Target="../notesSlides/notesSlide1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78478" y="1312069"/>
            <a:ext cx="11398531" cy="335156"/>
          </a:xfrm>
        </p:spPr>
        <p:txBody>
          <a:bodyPr/>
          <a:lstStyle/>
          <a:p>
            <a:r>
              <a:rPr/>
              <a:t>Annual household energy costs, by consumer type</a:t>
            </a:r>
          </a:p>
        </p:txBody>
      </p:sp>
      <p:grpSp xmlns:pic="http://schemas.openxmlformats.org/drawingml/2006/picture">
        <p:nvGrpSpPr>
          <p:cNvPr id="3" name="Content Placeholder 3"/>
          <p:cNvGrpSpPr/>
          <p:nvPr/>
        </p:nvGrpSpPr>
        <p:grpSpPr>
          <a:xfrm>
            <a:off x="1894800" y="1807200"/>
            <a:ext cx="8402400" cy="4284662"/>
            <a:chOff x="1894800" y="1807200"/>
            <a:chExt cx="8402400" cy="4284662"/>
          </a:xfrm>
        </p:grpSpPr>
        <p:sp>
          <p:nvSpPr>
            <p:cNvPr id="4" name="rc3"/>
            <p:cNvSpPr/>
            <p:nvPr/>
          </p:nvSpPr>
          <p:spPr>
            <a:xfrm>
              <a:off x="10297200" y="1807199"/>
              <a:ext cx="0" cy="42846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1896628" y="1898639"/>
              <a:ext cx="3260110" cy="208746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5"/>
            <p:cNvSpPr/>
            <p:nvPr/>
          </p:nvSpPr>
          <p:spPr>
            <a:xfrm>
              <a:off x="5156739" y="1898639"/>
              <a:ext cx="2515366" cy="208746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6"/>
            <p:cNvSpPr/>
            <p:nvPr/>
          </p:nvSpPr>
          <p:spPr>
            <a:xfrm>
              <a:off x="7672105" y="1898639"/>
              <a:ext cx="2515366" cy="208746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" name="rc7"/>
            <p:cNvSpPr/>
            <p:nvPr/>
          </p:nvSpPr>
          <p:spPr>
            <a:xfrm>
              <a:off x="1896628" y="3986107"/>
              <a:ext cx="3260110" cy="208746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" name="rc8"/>
            <p:cNvSpPr/>
            <p:nvPr/>
          </p:nvSpPr>
          <p:spPr>
            <a:xfrm>
              <a:off x="5156739" y="3986107"/>
              <a:ext cx="2515366" cy="208746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rc9"/>
            <p:cNvSpPr/>
            <p:nvPr/>
          </p:nvSpPr>
          <p:spPr>
            <a:xfrm>
              <a:off x="2700137" y="2292170"/>
              <a:ext cx="2346873" cy="109273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2700137" y="3384906"/>
              <a:ext cx="2346873" cy="0"/>
            </a:xfrm>
            <a:custGeom>
              <a:avLst/>
              <a:pathLst>
                <a:path w="2346873" h="0">
                  <a:moveTo>
                    <a:pt x="0" y="0"/>
                  </a:moveTo>
                  <a:lnTo>
                    <a:pt x="2346873" y="0"/>
                  </a:lnTo>
                  <a:lnTo>
                    <a:pt x="2346873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2700137" y="3089140"/>
              <a:ext cx="2346873" cy="0"/>
            </a:xfrm>
            <a:custGeom>
              <a:avLst/>
              <a:pathLst>
                <a:path w="2346873" h="0">
                  <a:moveTo>
                    <a:pt x="0" y="0"/>
                  </a:moveTo>
                  <a:lnTo>
                    <a:pt x="2346873" y="0"/>
                  </a:lnTo>
                  <a:lnTo>
                    <a:pt x="2346873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2700137" y="2793375"/>
              <a:ext cx="2346873" cy="0"/>
            </a:xfrm>
            <a:custGeom>
              <a:avLst/>
              <a:pathLst>
                <a:path w="2346873" h="0">
                  <a:moveTo>
                    <a:pt x="0" y="0"/>
                  </a:moveTo>
                  <a:lnTo>
                    <a:pt x="2346873" y="0"/>
                  </a:lnTo>
                  <a:lnTo>
                    <a:pt x="2346873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2700137" y="2497609"/>
              <a:ext cx="2346873" cy="0"/>
            </a:xfrm>
            <a:custGeom>
              <a:avLst/>
              <a:pathLst>
                <a:path w="2346873" h="0">
                  <a:moveTo>
                    <a:pt x="0" y="0"/>
                  </a:moveTo>
                  <a:lnTo>
                    <a:pt x="2346873" y="0"/>
                  </a:lnTo>
                  <a:lnTo>
                    <a:pt x="2346873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rc14"/>
            <p:cNvSpPr/>
            <p:nvPr/>
          </p:nvSpPr>
          <p:spPr>
            <a:xfrm>
              <a:off x="2812968" y="2782412"/>
              <a:ext cx="315925" cy="602493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" name="rc15"/>
            <p:cNvSpPr/>
            <p:nvPr/>
          </p:nvSpPr>
          <p:spPr>
            <a:xfrm>
              <a:off x="3264290" y="2782412"/>
              <a:ext cx="315925" cy="197803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3128893" y="2782412"/>
              <a:ext cx="135396" cy="0"/>
            </a:xfrm>
            <a:custGeom>
              <a:avLst/>
              <a:pathLst>
                <a:path w="135396" h="0">
                  <a:moveTo>
                    <a:pt x="0" y="0"/>
                  </a:moveTo>
                  <a:lnTo>
                    <a:pt x="135396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8" name="rc17"/>
            <p:cNvSpPr/>
            <p:nvPr/>
          </p:nvSpPr>
          <p:spPr>
            <a:xfrm>
              <a:off x="3715611" y="2980216"/>
              <a:ext cx="315925" cy="157488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3580215" y="2980216"/>
              <a:ext cx="135396" cy="0"/>
            </a:xfrm>
            <a:custGeom>
              <a:avLst/>
              <a:pathLst>
                <a:path w="135396" h="0">
                  <a:moveTo>
                    <a:pt x="0" y="0"/>
                  </a:moveTo>
                  <a:lnTo>
                    <a:pt x="135396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0" name="rc19"/>
            <p:cNvSpPr/>
            <p:nvPr/>
          </p:nvSpPr>
          <p:spPr>
            <a:xfrm>
              <a:off x="4166933" y="3137704"/>
              <a:ext cx="315925" cy="84369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4031537" y="3137704"/>
              <a:ext cx="135396" cy="0"/>
            </a:xfrm>
            <a:custGeom>
              <a:avLst/>
              <a:pathLst>
                <a:path w="135396" h="0">
                  <a:moveTo>
                    <a:pt x="0" y="0"/>
                  </a:moveTo>
                  <a:lnTo>
                    <a:pt x="135396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2" name="tx21"/>
            <p:cNvSpPr/>
            <p:nvPr/>
          </p:nvSpPr>
          <p:spPr>
            <a:xfrm>
              <a:off x="2689578" y="2977047"/>
              <a:ext cx="562703" cy="1790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>
                  <a:solidFill>
                    <a:srgbClr val="FFFFFF">
                      <a:alpha val="100000"/>
                    </a:srgbClr>
                  </a:solidFill>
                  <a:latin typeface="theme_grattan"/>
                  <a:cs typeface="theme_grattan"/>
                </a:rPr>
                <a:t>$5090</a:t>
              </a:r>
            </a:p>
          </p:txBody>
        </p:sp>
        <p:sp>
          <p:nvSpPr>
            <p:cNvPr id="23" name="tx22"/>
            <p:cNvSpPr/>
            <p:nvPr/>
          </p:nvSpPr>
          <p:spPr>
            <a:xfrm>
              <a:off x="3107207" y="2774702"/>
              <a:ext cx="630089" cy="1790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>
                  <a:solidFill>
                    <a:srgbClr val="FFFFFF">
                      <a:alpha val="100000"/>
                    </a:srgbClr>
                  </a:solidFill>
                  <a:latin typeface="theme_grattan"/>
                  <a:cs typeface="theme_grattan"/>
                </a:rPr>
                <a:t>-$1670</a:t>
              </a:r>
            </a:p>
          </p:txBody>
        </p:sp>
        <p:sp>
          <p:nvSpPr>
            <p:cNvPr id="24" name="tx23"/>
            <p:cNvSpPr/>
            <p:nvPr/>
          </p:nvSpPr>
          <p:spPr>
            <a:xfrm>
              <a:off x="3558529" y="2952348"/>
              <a:ext cx="630089" cy="1790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>
                  <a:solidFill>
                    <a:srgbClr val="FFFFFF">
                      <a:alpha val="100000"/>
                    </a:srgbClr>
                  </a:solidFill>
                  <a:latin typeface="theme_grattan"/>
                  <a:cs typeface="theme_grattan"/>
                </a:rPr>
                <a:t>-$1330</a:t>
              </a:r>
            </a:p>
          </p:txBody>
        </p:sp>
        <p:sp>
          <p:nvSpPr>
            <p:cNvPr id="25" name="tx24"/>
            <p:cNvSpPr/>
            <p:nvPr/>
          </p:nvSpPr>
          <p:spPr>
            <a:xfrm>
              <a:off x="4066121" y="3073277"/>
              <a:ext cx="517549" cy="1790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>
                  <a:solidFill>
                    <a:srgbClr val="FFFFFF">
                      <a:alpha val="100000"/>
                    </a:srgbClr>
                  </a:solidFill>
                  <a:latin typeface="theme_grattan"/>
                  <a:cs typeface="theme_grattan"/>
                </a:rPr>
                <a:t>-$713</a:t>
              </a:r>
            </a:p>
          </p:txBody>
        </p:sp>
        <p:sp>
          <p:nvSpPr>
            <p:cNvPr id="26" name="rc25"/>
            <p:cNvSpPr/>
            <p:nvPr/>
          </p:nvSpPr>
          <p:spPr>
            <a:xfrm>
              <a:off x="4618255" y="3222074"/>
              <a:ext cx="315925" cy="162832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" name="tx26"/>
            <p:cNvSpPr/>
            <p:nvPr/>
          </p:nvSpPr>
          <p:spPr>
            <a:xfrm>
              <a:off x="4494866" y="3196877"/>
              <a:ext cx="562703" cy="1790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>
                  <a:solidFill>
                    <a:srgbClr val="FFFFFF">
                      <a:alpha val="100000"/>
                    </a:srgbClr>
                  </a:solidFill>
                  <a:latin typeface="theme_grattan"/>
                  <a:cs typeface="theme_grattan"/>
                </a:rPr>
                <a:t>$1380</a:t>
              </a:r>
            </a:p>
          </p:txBody>
        </p:sp>
        <p:sp>
          <p:nvSpPr>
            <p:cNvPr id="28" name="pl27"/>
            <p:cNvSpPr/>
            <p:nvPr/>
          </p:nvSpPr>
          <p:spPr>
            <a:xfrm>
              <a:off x="4482858" y="3222074"/>
              <a:ext cx="135396" cy="0"/>
            </a:xfrm>
            <a:custGeom>
              <a:avLst/>
              <a:pathLst>
                <a:path w="135396" h="0">
                  <a:moveTo>
                    <a:pt x="0" y="0"/>
                  </a:moveTo>
                  <a:lnTo>
                    <a:pt x="135396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9" name="pg28"/>
            <p:cNvSpPr/>
            <p:nvPr/>
          </p:nvSpPr>
          <p:spPr>
            <a:xfrm>
              <a:off x="3602781" y="2751387"/>
              <a:ext cx="1444229" cy="259853"/>
            </a:xfrm>
            <a:custGeom>
              <a:avLst/>
              <a:pathLst>
                <a:path w="1444229" h="259853">
                  <a:moveTo>
                    <a:pt x="41147" y="259853"/>
                  </a:moveTo>
                  <a:lnTo>
                    <a:pt x="1444229" y="259853"/>
                  </a:lnTo>
                  <a:lnTo>
                    <a:pt x="1444229" y="0"/>
                  </a:lnTo>
                  <a:lnTo>
                    <a:pt x="41147" y="0"/>
                  </a:lnTo>
                  <a:lnTo>
                    <a:pt x="46107" y="300"/>
                  </a:lnTo>
                  <a:lnTo>
                    <a:pt x="39491" y="33"/>
                  </a:lnTo>
                  <a:lnTo>
                    <a:pt x="32917" y="831"/>
                  </a:lnTo>
                  <a:lnTo>
                    <a:pt x="26556" y="2673"/>
                  </a:lnTo>
                  <a:lnTo>
                    <a:pt x="20574" y="5512"/>
                  </a:lnTo>
                  <a:lnTo>
                    <a:pt x="15124" y="9274"/>
                  </a:lnTo>
                  <a:lnTo>
                    <a:pt x="10348" y="13861"/>
                  </a:lnTo>
                  <a:lnTo>
                    <a:pt x="6370" y="19155"/>
                  </a:lnTo>
                  <a:lnTo>
                    <a:pt x="3292" y="25019"/>
                  </a:lnTo>
                  <a:lnTo>
                    <a:pt x="1195" y="31300"/>
                  </a:lnTo>
                  <a:lnTo>
                    <a:pt x="133" y="37836"/>
                  </a:lnTo>
                  <a:lnTo>
                    <a:pt x="0" y="41148"/>
                  </a:lnTo>
                  <a:lnTo>
                    <a:pt x="0" y="218705"/>
                  </a:lnTo>
                  <a:lnTo>
                    <a:pt x="133" y="215394"/>
                  </a:lnTo>
                  <a:lnTo>
                    <a:pt x="133" y="222016"/>
                  </a:lnTo>
                  <a:lnTo>
                    <a:pt x="1195" y="228553"/>
                  </a:lnTo>
                  <a:lnTo>
                    <a:pt x="3292" y="234834"/>
                  </a:lnTo>
                  <a:lnTo>
                    <a:pt x="6370" y="240698"/>
                  </a:lnTo>
                  <a:lnTo>
                    <a:pt x="10348" y="245992"/>
                  </a:lnTo>
                  <a:lnTo>
                    <a:pt x="15124" y="250579"/>
                  </a:lnTo>
                  <a:lnTo>
                    <a:pt x="20574" y="254341"/>
                  </a:lnTo>
                  <a:lnTo>
                    <a:pt x="26556" y="257179"/>
                  </a:lnTo>
                  <a:lnTo>
                    <a:pt x="32917" y="259022"/>
                  </a:lnTo>
                  <a:lnTo>
                    <a:pt x="39491" y="25982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" name="tx29"/>
            <p:cNvSpPr/>
            <p:nvPr/>
          </p:nvSpPr>
          <p:spPr>
            <a:xfrm>
              <a:off x="3621069" y="2793915"/>
              <a:ext cx="1613706" cy="1692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Arial"/>
                  <a:cs typeface="Arial"/>
                </a:rPr>
                <a:t>Switch to an EV</a:t>
              </a:r>
            </a:p>
          </p:txBody>
        </p:sp>
        <p:sp>
          <p:nvSpPr>
            <p:cNvPr id="31" name="pg30"/>
            <p:cNvSpPr/>
            <p:nvPr/>
          </p:nvSpPr>
          <p:spPr>
            <a:xfrm>
              <a:off x="4054103" y="2929033"/>
              <a:ext cx="992907" cy="259853"/>
            </a:xfrm>
            <a:custGeom>
              <a:avLst/>
              <a:pathLst>
                <a:path w="992907" h="259853">
                  <a:moveTo>
                    <a:pt x="41148" y="259853"/>
                  </a:moveTo>
                  <a:lnTo>
                    <a:pt x="992907" y="259853"/>
                  </a:lnTo>
                  <a:lnTo>
                    <a:pt x="992907" y="0"/>
                  </a:lnTo>
                  <a:lnTo>
                    <a:pt x="41148" y="0"/>
                  </a:lnTo>
                  <a:lnTo>
                    <a:pt x="46107" y="300"/>
                  </a:lnTo>
                  <a:lnTo>
                    <a:pt x="39491" y="33"/>
                  </a:lnTo>
                  <a:lnTo>
                    <a:pt x="32917" y="831"/>
                  </a:lnTo>
                  <a:lnTo>
                    <a:pt x="26556" y="2673"/>
                  </a:lnTo>
                  <a:lnTo>
                    <a:pt x="20574" y="5512"/>
                  </a:lnTo>
                  <a:lnTo>
                    <a:pt x="15124" y="9274"/>
                  </a:lnTo>
                  <a:lnTo>
                    <a:pt x="10348" y="13861"/>
                  </a:lnTo>
                  <a:lnTo>
                    <a:pt x="6370" y="19155"/>
                  </a:lnTo>
                  <a:lnTo>
                    <a:pt x="3292" y="25019"/>
                  </a:lnTo>
                  <a:lnTo>
                    <a:pt x="1195" y="31300"/>
                  </a:lnTo>
                  <a:lnTo>
                    <a:pt x="133" y="37836"/>
                  </a:lnTo>
                  <a:lnTo>
                    <a:pt x="0" y="41148"/>
                  </a:lnTo>
                  <a:lnTo>
                    <a:pt x="0" y="218705"/>
                  </a:lnTo>
                  <a:lnTo>
                    <a:pt x="133" y="215394"/>
                  </a:lnTo>
                  <a:lnTo>
                    <a:pt x="133" y="222016"/>
                  </a:lnTo>
                  <a:lnTo>
                    <a:pt x="1195" y="228553"/>
                  </a:lnTo>
                  <a:lnTo>
                    <a:pt x="3292" y="234834"/>
                  </a:lnTo>
                  <a:lnTo>
                    <a:pt x="6370" y="240698"/>
                  </a:lnTo>
                  <a:lnTo>
                    <a:pt x="10348" y="245992"/>
                  </a:lnTo>
                  <a:lnTo>
                    <a:pt x="15124" y="250579"/>
                  </a:lnTo>
                  <a:lnTo>
                    <a:pt x="20574" y="254341"/>
                  </a:lnTo>
                  <a:lnTo>
                    <a:pt x="26556" y="257179"/>
                  </a:lnTo>
                  <a:lnTo>
                    <a:pt x="32917" y="259022"/>
                  </a:lnTo>
                  <a:lnTo>
                    <a:pt x="39491" y="25982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tx31"/>
            <p:cNvSpPr/>
            <p:nvPr/>
          </p:nvSpPr>
          <p:spPr>
            <a:xfrm>
              <a:off x="4072391" y="2974463"/>
              <a:ext cx="1156171" cy="1663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Arial"/>
                  <a:cs typeface="Arial"/>
                </a:rPr>
                <a:t>Install solar</a:t>
              </a:r>
            </a:p>
          </p:txBody>
        </p:sp>
        <p:sp>
          <p:nvSpPr>
            <p:cNvPr id="33" name="pg32"/>
            <p:cNvSpPr/>
            <p:nvPr/>
          </p:nvSpPr>
          <p:spPr>
            <a:xfrm>
              <a:off x="4505424" y="3049962"/>
              <a:ext cx="541586" cy="259853"/>
            </a:xfrm>
            <a:custGeom>
              <a:avLst/>
              <a:pathLst>
                <a:path w="541586" h="259853">
                  <a:moveTo>
                    <a:pt x="41147" y="259853"/>
                  </a:moveTo>
                  <a:lnTo>
                    <a:pt x="541586" y="259853"/>
                  </a:lnTo>
                  <a:lnTo>
                    <a:pt x="541586" y="0"/>
                  </a:lnTo>
                  <a:lnTo>
                    <a:pt x="41147" y="0"/>
                  </a:lnTo>
                  <a:lnTo>
                    <a:pt x="46107" y="300"/>
                  </a:lnTo>
                  <a:lnTo>
                    <a:pt x="39491" y="33"/>
                  </a:lnTo>
                  <a:lnTo>
                    <a:pt x="32917" y="831"/>
                  </a:lnTo>
                  <a:lnTo>
                    <a:pt x="26556" y="2673"/>
                  </a:lnTo>
                  <a:lnTo>
                    <a:pt x="20573" y="5512"/>
                  </a:lnTo>
                  <a:lnTo>
                    <a:pt x="15124" y="9274"/>
                  </a:lnTo>
                  <a:lnTo>
                    <a:pt x="10348" y="13861"/>
                  </a:lnTo>
                  <a:lnTo>
                    <a:pt x="6370" y="19155"/>
                  </a:lnTo>
                  <a:lnTo>
                    <a:pt x="3292" y="25019"/>
                  </a:lnTo>
                  <a:lnTo>
                    <a:pt x="1195" y="31300"/>
                  </a:lnTo>
                  <a:lnTo>
                    <a:pt x="133" y="37836"/>
                  </a:lnTo>
                  <a:lnTo>
                    <a:pt x="0" y="41148"/>
                  </a:lnTo>
                  <a:lnTo>
                    <a:pt x="0" y="218705"/>
                  </a:lnTo>
                  <a:lnTo>
                    <a:pt x="133" y="215394"/>
                  </a:lnTo>
                  <a:lnTo>
                    <a:pt x="133" y="222016"/>
                  </a:lnTo>
                  <a:lnTo>
                    <a:pt x="1195" y="228553"/>
                  </a:lnTo>
                  <a:lnTo>
                    <a:pt x="3292" y="234834"/>
                  </a:lnTo>
                  <a:lnTo>
                    <a:pt x="6370" y="240698"/>
                  </a:lnTo>
                  <a:lnTo>
                    <a:pt x="10348" y="245992"/>
                  </a:lnTo>
                  <a:lnTo>
                    <a:pt x="15124" y="250579"/>
                  </a:lnTo>
                  <a:lnTo>
                    <a:pt x="20573" y="254341"/>
                  </a:lnTo>
                  <a:lnTo>
                    <a:pt x="26556" y="257179"/>
                  </a:lnTo>
                  <a:lnTo>
                    <a:pt x="32917" y="259022"/>
                  </a:lnTo>
                  <a:lnTo>
                    <a:pt x="39491" y="25982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" name="tx33"/>
            <p:cNvSpPr/>
            <p:nvPr/>
          </p:nvSpPr>
          <p:spPr>
            <a:xfrm>
              <a:off x="4523712" y="3047172"/>
              <a:ext cx="1245021" cy="2145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Arial"/>
                  <a:cs typeface="Arial"/>
                </a:rPr>
                <a:t>Electrify gas</a:t>
              </a:r>
            </a:p>
          </p:txBody>
        </p:sp>
        <p:sp>
          <p:nvSpPr>
            <p:cNvPr id="35" name="tx34"/>
            <p:cNvSpPr/>
            <p:nvPr/>
          </p:nvSpPr>
          <p:spPr>
            <a:xfrm>
              <a:off x="2343379" y="3264467"/>
              <a:ext cx="254272" cy="2022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$0</a:t>
              </a:r>
            </a:p>
          </p:txBody>
        </p:sp>
        <p:sp>
          <p:nvSpPr>
            <p:cNvPr id="36" name="tx35"/>
            <p:cNvSpPr/>
            <p:nvPr/>
          </p:nvSpPr>
          <p:spPr>
            <a:xfrm>
              <a:off x="1898457" y="2959883"/>
              <a:ext cx="699194" cy="2110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$2,500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1898457" y="2664118"/>
              <a:ext cx="699194" cy="2110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$5,000</a:t>
              </a:r>
            </a:p>
          </p:txBody>
        </p:sp>
        <p:sp>
          <p:nvSpPr>
            <p:cNvPr id="38" name="tx37"/>
            <p:cNvSpPr/>
            <p:nvPr/>
          </p:nvSpPr>
          <p:spPr>
            <a:xfrm>
              <a:off x="1898457" y="2368352"/>
              <a:ext cx="699194" cy="2110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$7,500</a:t>
              </a:r>
            </a:p>
          </p:txBody>
        </p:sp>
        <p:sp>
          <p:nvSpPr>
            <p:cNvPr id="39" name="pl38"/>
            <p:cNvSpPr/>
            <p:nvPr/>
          </p:nvSpPr>
          <p:spPr>
            <a:xfrm>
              <a:off x="2700137" y="3384906"/>
              <a:ext cx="2346873" cy="0"/>
            </a:xfrm>
            <a:custGeom>
              <a:avLst/>
              <a:pathLst>
                <a:path w="2346873" h="0">
                  <a:moveTo>
                    <a:pt x="0" y="0"/>
                  </a:moveTo>
                  <a:lnTo>
                    <a:pt x="2346873" y="0"/>
                  </a:lnTo>
                </a:path>
              </a:pathLst>
            </a:custGeom>
            <a:ln w="952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39"/>
            <p:cNvSpPr/>
            <p:nvPr/>
          </p:nvSpPr>
          <p:spPr>
            <a:xfrm>
              <a:off x="2970930" y="3384906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0"/>
            <p:cNvSpPr/>
            <p:nvPr/>
          </p:nvSpPr>
          <p:spPr>
            <a:xfrm>
              <a:off x="4776217" y="3384906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tx41"/>
            <p:cNvSpPr/>
            <p:nvPr/>
          </p:nvSpPr>
          <p:spPr>
            <a:xfrm>
              <a:off x="2138739" y="3481922"/>
              <a:ext cx="1664382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Fossil fuel home</a:t>
              </a:r>
            </a:p>
          </p:txBody>
        </p:sp>
        <p:sp>
          <p:nvSpPr>
            <p:cNvPr id="43" name="tx42"/>
            <p:cNvSpPr/>
            <p:nvPr/>
          </p:nvSpPr>
          <p:spPr>
            <a:xfrm>
              <a:off x="3696283" y="3436492"/>
              <a:ext cx="2159868" cy="2145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Fully electrified home</a:t>
              </a:r>
            </a:p>
          </p:txBody>
        </p:sp>
        <p:sp>
          <p:nvSpPr>
            <p:cNvPr id="44" name="tx43"/>
            <p:cNvSpPr/>
            <p:nvPr/>
          </p:nvSpPr>
          <p:spPr>
            <a:xfrm>
              <a:off x="2789811" y="1985019"/>
              <a:ext cx="1365845" cy="1505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6A737B">
                      <a:alpha val="100000"/>
                    </a:srgbClr>
                  </a:solidFill>
                  <a:latin typeface="Arial"/>
                  <a:cs typeface="Arial"/>
                </a:rPr>
                <a:t>NSW and ACT</a:t>
              </a:r>
            </a:p>
          </p:txBody>
        </p:sp>
        <p:sp>
          <p:nvSpPr>
            <p:cNvPr id="45" name="rc44"/>
            <p:cNvSpPr/>
            <p:nvPr/>
          </p:nvSpPr>
          <p:spPr>
            <a:xfrm>
              <a:off x="5215504" y="2292170"/>
              <a:ext cx="2346873" cy="109273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" name="pl45"/>
            <p:cNvSpPr/>
            <p:nvPr/>
          </p:nvSpPr>
          <p:spPr>
            <a:xfrm>
              <a:off x="5215504" y="3384906"/>
              <a:ext cx="2346873" cy="0"/>
            </a:xfrm>
            <a:custGeom>
              <a:avLst/>
              <a:pathLst>
                <a:path w="2346873" h="0">
                  <a:moveTo>
                    <a:pt x="0" y="0"/>
                  </a:moveTo>
                  <a:lnTo>
                    <a:pt x="2346873" y="0"/>
                  </a:lnTo>
                  <a:lnTo>
                    <a:pt x="2346873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6"/>
            <p:cNvSpPr/>
            <p:nvPr/>
          </p:nvSpPr>
          <p:spPr>
            <a:xfrm>
              <a:off x="5215504" y="3089140"/>
              <a:ext cx="2346873" cy="0"/>
            </a:xfrm>
            <a:custGeom>
              <a:avLst/>
              <a:pathLst>
                <a:path w="2346873" h="0">
                  <a:moveTo>
                    <a:pt x="0" y="0"/>
                  </a:moveTo>
                  <a:lnTo>
                    <a:pt x="2346873" y="0"/>
                  </a:lnTo>
                  <a:lnTo>
                    <a:pt x="2346873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7"/>
            <p:cNvSpPr/>
            <p:nvPr/>
          </p:nvSpPr>
          <p:spPr>
            <a:xfrm>
              <a:off x="5215504" y="2793375"/>
              <a:ext cx="2346873" cy="0"/>
            </a:xfrm>
            <a:custGeom>
              <a:avLst/>
              <a:pathLst>
                <a:path w="2346873" h="0">
                  <a:moveTo>
                    <a:pt x="0" y="0"/>
                  </a:moveTo>
                  <a:lnTo>
                    <a:pt x="2346873" y="0"/>
                  </a:lnTo>
                  <a:lnTo>
                    <a:pt x="2346873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8"/>
            <p:cNvSpPr/>
            <p:nvPr/>
          </p:nvSpPr>
          <p:spPr>
            <a:xfrm>
              <a:off x="5215504" y="2497609"/>
              <a:ext cx="2346873" cy="0"/>
            </a:xfrm>
            <a:custGeom>
              <a:avLst/>
              <a:pathLst>
                <a:path w="2346873" h="0">
                  <a:moveTo>
                    <a:pt x="0" y="0"/>
                  </a:moveTo>
                  <a:lnTo>
                    <a:pt x="2346873" y="0"/>
                  </a:lnTo>
                  <a:lnTo>
                    <a:pt x="2346873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rc49"/>
            <p:cNvSpPr/>
            <p:nvPr/>
          </p:nvSpPr>
          <p:spPr>
            <a:xfrm>
              <a:off x="5328334" y="2786929"/>
              <a:ext cx="315925" cy="597976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" name="rc50"/>
            <p:cNvSpPr/>
            <p:nvPr/>
          </p:nvSpPr>
          <p:spPr>
            <a:xfrm>
              <a:off x="5779656" y="2786929"/>
              <a:ext cx="315925" cy="194016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" name="pl51"/>
            <p:cNvSpPr/>
            <p:nvPr/>
          </p:nvSpPr>
          <p:spPr>
            <a:xfrm>
              <a:off x="5644259" y="2786929"/>
              <a:ext cx="135396" cy="0"/>
            </a:xfrm>
            <a:custGeom>
              <a:avLst/>
              <a:pathLst>
                <a:path w="135396" h="0">
                  <a:moveTo>
                    <a:pt x="0" y="0"/>
                  </a:moveTo>
                  <a:lnTo>
                    <a:pt x="135396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53" name="rc52"/>
            <p:cNvSpPr/>
            <p:nvPr/>
          </p:nvSpPr>
          <p:spPr>
            <a:xfrm>
              <a:off x="6230978" y="2980946"/>
              <a:ext cx="315925" cy="203079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" name="pl53"/>
            <p:cNvSpPr/>
            <p:nvPr/>
          </p:nvSpPr>
          <p:spPr>
            <a:xfrm>
              <a:off x="6095581" y="2980946"/>
              <a:ext cx="135396" cy="0"/>
            </a:xfrm>
            <a:custGeom>
              <a:avLst/>
              <a:pathLst>
                <a:path w="135396" h="0">
                  <a:moveTo>
                    <a:pt x="0" y="0"/>
                  </a:moveTo>
                  <a:lnTo>
                    <a:pt x="135396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55" name="rc54"/>
            <p:cNvSpPr/>
            <p:nvPr/>
          </p:nvSpPr>
          <p:spPr>
            <a:xfrm>
              <a:off x="6682300" y="3184026"/>
              <a:ext cx="315925" cy="60463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" name="pl55"/>
            <p:cNvSpPr/>
            <p:nvPr/>
          </p:nvSpPr>
          <p:spPr>
            <a:xfrm>
              <a:off x="6546903" y="3184026"/>
              <a:ext cx="135396" cy="0"/>
            </a:xfrm>
            <a:custGeom>
              <a:avLst/>
              <a:pathLst>
                <a:path w="135396" h="0">
                  <a:moveTo>
                    <a:pt x="0" y="0"/>
                  </a:moveTo>
                  <a:lnTo>
                    <a:pt x="135396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57" name="tx56"/>
            <p:cNvSpPr/>
            <p:nvPr/>
          </p:nvSpPr>
          <p:spPr>
            <a:xfrm>
              <a:off x="5204945" y="2979305"/>
              <a:ext cx="562703" cy="1790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>
                  <a:solidFill>
                    <a:srgbClr val="FFFFFF">
                      <a:alpha val="100000"/>
                    </a:srgbClr>
                  </a:solidFill>
                  <a:latin typeface="theme_grattan"/>
                  <a:cs typeface="theme_grattan"/>
                </a:rPr>
                <a:t>$5050</a:t>
              </a:r>
            </a:p>
          </p:txBody>
        </p:sp>
        <p:sp>
          <p:nvSpPr>
            <p:cNvPr id="58" name="tx57"/>
            <p:cNvSpPr/>
            <p:nvPr/>
          </p:nvSpPr>
          <p:spPr>
            <a:xfrm>
              <a:off x="5622574" y="2777325"/>
              <a:ext cx="630089" cy="1790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>
                  <a:solidFill>
                    <a:srgbClr val="FFFFFF">
                      <a:alpha val="100000"/>
                    </a:srgbClr>
                  </a:solidFill>
                  <a:latin typeface="theme_grattan"/>
                  <a:cs typeface="theme_grattan"/>
                </a:rPr>
                <a:t>-$1640</a:t>
              </a:r>
            </a:p>
          </p:txBody>
        </p:sp>
        <p:sp>
          <p:nvSpPr>
            <p:cNvPr id="59" name="tx58"/>
            <p:cNvSpPr/>
            <p:nvPr/>
          </p:nvSpPr>
          <p:spPr>
            <a:xfrm>
              <a:off x="6073895" y="2975874"/>
              <a:ext cx="630089" cy="1790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>
                  <a:solidFill>
                    <a:srgbClr val="FFFFFF">
                      <a:alpha val="100000"/>
                    </a:srgbClr>
                  </a:solidFill>
                  <a:latin typeface="theme_grattan"/>
                  <a:cs typeface="theme_grattan"/>
                </a:rPr>
                <a:t>-$1720</a:t>
              </a:r>
            </a:p>
          </p:txBody>
        </p:sp>
        <p:sp>
          <p:nvSpPr>
            <p:cNvPr id="60" name="tx59"/>
            <p:cNvSpPr/>
            <p:nvPr/>
          </p:nvSpPr>
          <p:spPr>
            <a:xfrm>
              <a:off x="6581488" y="3107645"/>
              <a:ext cx="517549" cy="1790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>
                  <a:solidFill>
                    <a:srgbClr val="FFFFFF">
                      <a:alpha val="100000"/>
                    </a:srgbClr>
                  </a:solidFill>
                  <a:latin typeface="theme_grattan"/>
                  <a:cs typeface="theme_grattan"/>
                </a:rPr>
                <a:t>-$511</a:t>
              </a:r>
            </a:p>
          </p:txBody>
        </p:sp>
        <p:sp>
          <p:nvSpPr>
            <p:cNvPr id="61" name="rc60"/>
            <p:cNvSpPr/>
            <p:nvPr/>
          </p:nvSpPr>
          <p:spPr>
            <a:xfrm>
              <a:off x="7133621" y="3244489"/>
              <a:ext cx="315925" cy="140416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" name="tx61"/>
            <p:cNvSpPr/>
            <p:nvPr/>
          </p:nvSpPr>
          <p:spPr>
            <a:xfrm>
              <a:off x="7010232" y="3208085"/>
              <a:ext cx="562703" cy="1790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>
                  <a:solidFill>
                    <a:srgbClr val="FFFFFF">
                      <a:alpha val="100000"/>
                    </a:srgbClr>
                  </a:solidFill>
                  <a:latin typeface="theme_grattan"/>
                  <a:cs typeface="theme_grattan"/>
                </a:rPr>
                <a:t>$1190</a:t>
              </a:r>
            </a:p>
          </p:txBody>
        </p:sp>
        <p:sp>
          <p:nvSpPr>
            <p:cNvPr id="63" name="pl62"/>
            <p:cNvSpPr/>
            <p:nvPr/>
          </p:nvSpPr>
          <p:spPr>
            <a:xfrm>
              <a:off x="6998225" y="3244489"/>
              <a:ext cx="135396" cy="0"/>
            </a:xfrm>
            <a:custGeom>
              <a:avLst/>
              <a:pathLst>
                <a:path w="135396" h="0">
                  <a:moveTo>
                    <a:pt x="0" y="0"/>
                  </a:moveTo>
                  <a:lnTo>
                    <a:pt x="135396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64" name="pg63"/>
            <p:cNvSpPr/>
            <p:nvPr/>
          </p:nvSpPr>
          <p:spPr>
            <a:xfrm>
              <a:off x="6118147" y="2754011"/>
              <a:ext cx="1444229" cy="259853"/>
            </a:xfrm>
            <a:custGeom>
              <a:avLst/>
              <a:pathLst>
                <a:path w="1444229" h="259853">
                  <a:moveTo>
                    <a:pt x="41148" y="259853"/>
                  </a:moveTo>
                  <a:lnTo>
                    <a:pt x="1444229" y="259853"/>
                  </a:lnTo>
                  <a:lnTo>
                    <a:pt x="1444229" y="0"/>
                  </a:lnTo>
                  <a:lnTo>
                    <a:pt x="41148" y="0"/>
                  </a:lnTo>
                  <a:lnTo>
                    <a:pt x="46107" y="300"/>
                  </a:lnTo>
                  <a:lnTo>
                    <a:pt x="39491" y="33"/>
                  </a:lnTo>
                  <a:lnTo>
                    <a:pt x="32917" y="831"/>
                  </a:lnTo>
                  <a:lnTo>
                    <a:pt x="26556" y="2673"/>
                  </a:lnTo>
                  <a:lnTo>
                    <a:pt x="20574" y="5512"/>
                  </a:lnTo>
                  <a:lnTo>
                    <a:pt x="15124" y="9274"/>
                  </a:lnTo>
                  <a:lnTo>
                    <a:pt x="10348" y="13861"/>
                  </a:lnTo>
                  <a:lnTo>
                    <a:pt x="6370" y="19155"/>
                  </a:lnTo>
                  <a:lnTo>
                    <a:pt x="3292" y="25019"/>
                  </a:lnTo>
                  <a:lnTo>
                    <a:pt x="1195" y="31300"/>
                  </a:lnTo>
                  <a:lnTo>
                    <a:pt x="133" y="37836"/>
                  </a:lnTo>
                  <a:lnTo>
                    <a:pt x="0" y="41148"/>
                  </a:lnTo>
                  <a:lnTo>
                    <a:pt x="0" y="218705"/>
                  </a:lnTo>
                  <a:lnTo>
                    <a:pt x="133" y="215394"/>
                  </a:lnTo>
                  <a:lnTo>
                    <a:pt x="133" y="222016"/>
                  </a:lnTo>
                  <a:lnTo>
                    <a:pt x="1195" y="228553"/>
                  </a:lnTo>
                  <a:lnTo>
                    <a:pt x="3292" y="234834"/>
                  </a:lnTo>
                  <a:lnTo>
                    <a:pt x="6370" y="240698"/>
                  </a:lnTo>
                  <a:lnTo>
                    <a:pt x="10348" y="245992"/>
                  </a:lnTo>
                  <a:lnTo>
                    <a:pt x="15124" y="250579"/>
                  </a:lnTo>
                  <a:lnTo>
                    <a:pt x="20574" y="254341"/>
                  </a:lnTo>
                  <a:lnTo>
                    <a:pt x="26556" y="257179"/>
                  </a:lnTo>
                  <a:lnTo>
                    <a:pt x="32917" y="259022"/>
                  </a:lnTo>
                  <a:lnTo>
                    <a:pt x="39491" y="25982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" name="tx64"/>
            <p:cNvSpPr/>
            <p:nvPr/>
          </p:nvSpPr>
          <p:spPr>
            <a:xfrm>
              <a:off x="6136435" y="2796538"/>
              <a:ext cx="1613706" cy="1692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Arial"/>
                  <a:cs typeface="Arial"/>
                </a:rPr>
                <a:t>Switch to an EV</a:t>
              </a:r>
            </a:p>
          </p:txBody>
        </p:sp>
        <p:sp>
          <p:nvSpPr>
            <p:cNvPr id="66" name="pg65"/>
            <p:cNvSpPr/>
            <p:nvPr/>
          </p:nvSpPr>
          <p:spPr>
            <a:xfrm>
              <a:off x="6569469" y="2952559"/>
              <a:ext cx="992907" cy="259853"/>
            </a:xfrm>
            <a:custGeom>
              <a:avLst/>
              <a:pathLst>
                <a:path w="992907" h="259853">
                  <a:moveTo>
                    <a:pt x="41148" y="259853"/>
                  </a:moveTo>
                  <a:lnTo>
                    <a:pt x="992907" y="259853"/>
                  </a:lnTo>
                  <a:lnTo>
                    <a:pt x="992907" y="0"/>
                  </a:lnTo>
                  <a:lnTo>
                    <a:pt x="41148" y="0"/>
                  </a:lnTo>
                  <a:lnTo>
                    <a:pt x="46107" y="300"/>
                  </a:lnTo>
                  <a:lnTo>
                    <a:pt x="39491" y="33"/>
                  </a:lnTo>
                  <a:lnTo>
                    <a:pt x="32917" y="831"/>
                  </a:lnTo>
                  <a:lnTo>
                    <a:pt x="26556" y="2673"/>
                  </a:lnTo>
                  <a:lnTo>
                    <a:pt x="20573" y="5512"/>
                  </a:lnTo>
                  <a:lnTo>
                    <a:pt x="15124" y="9274"/>
                  </a:lnTo>
                  <a:lnTo>
                    <a:pt x="10348" y="13861"/>
                  </a:lnTo>
                  <a:lnTo>
                    <a:pt x="6370" y="19155"/>
                  </a:lnTo>
                  <a:lnTo>
                    <a:pt x="3292" y="25019"/>
                  </a:lnTo>
                  <a:lnTo>
                    <a:pt x="1195" y="31300"/>
                  </a:lnTo>
                  <a:lnTo>
                    <a:pt x="133" y="37836"/>
                  </a:lnTo>
                  <a:lnTo>
                    <a:pt x="0" y="41147"/>
                  </a:lnTo>
                  <a:lnTo>
                    <a:pt x="0" y="218705"/>
                  </a:lnTo>
                  <a:lnTo>
                    <a:pt x="133" y="215394"/>
                  </a:lnTo>
                  <a:lnTo>
                    <a:pt x="133" y="222016"/>
                  </a:lnTo>
                  <a:lnTo>
                    <a:pt x="1195" y="228553"/>
                  </a:lnTo>
                  <a:lnTo>
                    <a:pt x="3292" y="234834"/>
                  </a:lnTo>
                  <a:lnTo>
                    <a:pt x="6370" y="240698"/>
                  </a:lnTo>
                  <a:lnTo>
                    <a:pt x="10348" y="245992"/>
                  </a:lnTo>
                  <a:lnTo>
                    <a:pt x="15124" y="250579"/>
                  </a:lnTo>
                  <a:lnTo>
                    <a:pt x="20573" y="254341"/>
                  </a:lnTo>
                  <a:lnTo>
                    <a:pt x="26556" y="257179"/>
                  </a:lnTo>
                  <a:lnTo>
                    <a:pt x="32917" y="259022"/>
                  </a:lnTo>
                  <a:lnTo>
                    <a:pt x="39491" y="25982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" name="tx66"/>
            <p:cNvSpPr/>
            <p:nvPr/>
          </p:nvSpPr>
          <p:spPr>
            <a:xfrm>
              <a:off x="6587757" y="2997989"/>
              <a:ext cx="1156171" cy="1663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Arial"/>
                  <a:cs typeface="Arial"/>
                </a:rPr>
                <a:t>Install solar</a:t>
              </a:r>
            </a:p>
          </p:txBody>
        </p:sp>
        <p:sp>
          <p:nvSpPr>
            <p:cNvPr id="68" name="pg67"/>
            <p:cNvSpPr/>
            <p:nvPr/>
          </p:nvSpPr>
          <p:spPr>
            <a:xfrm>
              <a:off x="7020791" y="3084331"/>
              <a:ext cx="541586" cy="259853"/>
            </a:xfrm>
            <a:custGeom>
              <a:avLst/>
              <a:pathLst>
                <a:path w="541586" h="259853">
                  <a:moveTo>
                    <a:pt x="41148" y="259853"/>
                  </a:moveTo>
                  <a:lnTo>
                    <a:pt x="541586" y="259853"/>
                  </a:lnTo>
                  <a:lnTo>
                    <a:pt x="541586" y="0"/>
                  </a:lnTo>
                  <a:lnTo>
                    <a:pt x="41148" y="0"/>
                  </a:lnTo>
                  <a:lnTo>
                    <a:pt x="46107" y="300"/>
                  </a:lnTo>
                  <a:lnTo>
                    <a:pt x="39491" y="33"/>
                  </a:lnTo>
                  <a:lnTo>
                    <a:pt x="32917" y="831"/>
                  </a:lnTo>
                  <a:lnTo>
                    <a:pt x="26556" y="2673"/>
                  </a:lnTo>
                  <a:lnTo>
                    <a:pt x="20574" y="5512"/>
                  </a:lnTo>
                  <a:lnTo>
                    <a:pt x="15124" y="9274"/>
                  </a:lnTo>
                  <a:lnTo>
                    <a:pt x="10348" y="13861"/>
                  </a:lnTo>
                  <a:lnTo>
                    <a:pt x="6370" y="19155"/>
                  </a:lnTo>
                  <a:lnTo>
                    <a:pt x="3292" y="25019"/>
                  </a:lnTo>
                  <a:lnTo>
                    <a:pt x="1195" y="31300"/>
                  </a:lnTo>
                  <a:lnTo>
                    <a:pt x="133" y="37836"/>
                  </a:lnTo>
                  <a:lnTo>
                    <a:pt x="0" y="41147"/>
                  </a:lnTo>
                  <a:lnTo>
                    <a:pt x="0" y="218705"/>
                  </a:lnTo>
                  <a:lnTo>
                    <a:pt x="133" y="215394"/>
                  </a:lnTo>
                  <a:lnTo>
                    <a:pt x="133" y="222016"/>
                  </a:lnTo>
                  <a:lnTo>
                    <a:pt x="1195" y="228553"/>
                  </a:lnTo>
                  <a:lnTo>
                    <a:pt x="3292" y="234834"/>
                  </a:lnTo>
                  <a:lnTo>
                    <a:pt x="6370" y="240698"/>
                  </a:lnTo>
                  <a:lnTo>
                    <a:pt x="10348" y="245992"/>
                  </a:lnTo>
                  <a:lnTo>
                    <a:pt x="15124" y="250579"/>
                  </a:lnTo>
                  <a:lnTo>
                    <a:pt x="20574" y="254341"/>
                  </a:lnTo>
                  <a:lnTo>
                    <a:pt x="26556" y="257179"/>
                  </a:lnTo>
                  <a:lnTo>
                    <a:pt x="32917" y="259022"/>
                  </a:lnTo>
                  <a:lnTo>
                    <a:pt x="39491" y="25982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" name="tx68"/>
            <p:cNvSpPr/>
            <p:nvPr/>
          </p:nvSpPr>
          <p:spPr>
            <a:xfrm>
              <a:off x="7039079" y="3081540"/>
              <a:ext cx="1245021" cy="2145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Arial"/>
                  <a:cs typeface="Arial"/>
                </a:rPr>
                <a:t>Electrify gas</a:t>
              </a:r>
            </a:p>
          </p:txBody>
        </p:sp>
        <p:sp>
          <p:nvSpPr>
            <p:cNvPr id="70" name="pl69"/>
            <p:cNvSpPr/>
            <p:nvPr/>
          </p:nvSpPr>
          <p:spPr>
            <a:xfrm>
              <a:off x="5215504" y="3384906"/>
              <a:ext cx="2346873" cy="0"/>
            </a:xfrm>
            <a:custGeom>
              <a:avLst/>
              <a:pathLst>
                <a:path w="2346873" h="0">
                  <a:moveTo>
                    <a:pt x="0" y="0"/>
                  </a:moveTo>
                  <a:lnTo>
                    <a:pt x="2346873" y="0"/>
                  </a:lnTo>
                </a:path>
              </a:pathLst>
            </a:custGeom>
            <a:ln w="952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0"/>
            <p:cNvSpPr/>
            <p:nvPr/>
          </p:nvSpPr>
          <p:spPr>
            <a:xfrm>
              <a:off x="5486297" y="3384906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1"/>
            <p:cNvSpPr/>
            <p:nvPr/>
          </p:nvSpPr>
          <p:spPr>
            <a:xfrm>
              <a:off x="7291584" y="3384906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tx72"/>
            <p:cNvSpPr/>
            <p:nvPr/>
          </p:nvSpPr>
          <p:spPr>
            <a:xfrm>
              <a:off x="4654106" y="3481922"/>
              <a:ext cx="1664382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Fossil fuel home</a:t>
              </a:r>
            </a:p>
          </p:txBody>
        </p:sp>
        <p:sp>
          <p:nvSpPr>
            <p:cNvPr id="74" name="tx73"/>
            <p:cNvSpPr/>
            <p:nvPr/>
          </p:nvSpPr>
          <p:spPr>
            <a:xfrm>
              <a:off x="6211650" y="3436492"/>
              <a:ext cx="2159868" cy="2145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Fully electrified home</a:t>
              </a:r>
            </a:p>
          </p:txBody>
        </p:sp>
        <p:sp>
          <p:nvSpPr>
            <p:cNvPr id="75" name="tx74"/>
            <p:cNvSpPr/>
            <p:nvPr/>
          </p:nvSpPr>
          <p:spPr>
            <a:xfrm>
              <a:off x="6191155" y="1973014"/>
              <a:ext cx="338633" cy="16252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6A737B">
                      <a:alpha val="100000"/>
                    </a:srgbClr>
                  </a:solidFill>
                  <a:latin typeface="Arial"/>
                  <a:cs typeface="Arial"/>
                </a:rPr>
                <a:t>Qld</a:t>
              </a:r>
            </a:p>
          </p:txBody>
        </p:sp>
        <p:sp>
          <p:nvSpPr>
            <p:cNvPr id="76" name="rc75"/>
            <p:cNvSpPr/>
            <p:nvPr/>
          </p:nvSpPr>
          <p:spPr>
            <a:xfrm>
              <a:off x="7730870" y="2292170"/>
              <a:ext cx="2346873" cy="109273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" name="pl76"/>
            <p:cNvSpPr/>
            <p:nvPr/>
          </p:nvSpPr>
          <p:spPr>
            <a:xfrm>
              <a:off x="7730870" y="3384906"/>
              <a:ext cx="2346873" cy="0"/>
            </a:xfrm>
            <a:custGeom>
              <a:avLst/>
              <a:pathLst>
                <a:path w="2346873" h="0">
                  <a:moveTo>
                    <a:pt x="0" y="0"/>
                  </a:moveTo>
                  <a:lnTo>
                    <a:pt x="2346873" y="0"/>
                  </a:lnTo>
                  <a:lnTo>
                    <a:pt x="2346873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7"/>
            <p:cNvSpPr/>
            <p:nvPr/>
          </p:nvSpPr>
          <p:spPr>
            <a:xfrm>
              <a:off x="7730870" y="3089140"/>
              <a:ext cx="2346873" cy="0"/>
            </a:xfrm>
            <a:custGeom>
              <a:avLst/>
              <a:pathLst>
                <a:path w="2346873" h="0">
                  <a:moveTo>
                    <a:pt x="0" y="0"/>
                  </a:moveTo>
                  <a:lnTo>
                    <a:pt x="2346873" y="0"/>
                  </a:lnTo>
                  <a:lnTo>
                    <a:pt x="2346873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8"/>
            <p:cNvSpPr/>
            <p:nvPr/>
          </p:nvSpPr>
          <p:spPr>
            <a:xfrm>
              <a:off x="7730870" y="2793375"/>
              <a:ext cx="2346873" cy="0"/>
            </a:xfrm>
            <a:custGeom>
              <a:avLst/>
              <a:pathLst>
                <a:path w="2346873" h="0">
                  <a:moveTo>
                    <a:pt x="0" y="0"/>
                  </a:moveTo>
                  <a:lnTo>
                    <a:pt x="2346873" y="0"/>
                  </a:lnTo>
                  <a:lnTo>
                    <a:pt x="2346873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79"/>
            <p:cNvSpPr/>
            <p:nvPr/>
          </p:nvSpPr>
          <p:spPr>
            <a:xfrm>
              <a:off x="7730870" y="2497609"/>
              <a:ext cx="2346873" cy="0"/>
            </a:xfrm>
            <a:custGeom>
              <a:avLst/>
              <a:pathLst>
                <a:path w="2346873" h="0">
                  <a:moveTo>
                    <a:pt x="0" y="0"/>
                  </a:moveTo>
                  <a:lnTo>
                    <a:pt x="2346873" y="0"/>
                  </a:lnTo>
                  <a:lnTo>
                    <a:pt x="2346873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rc80"/>
            <p:cNvSpPr/>
            <p:nvPr/>
          </p:nvSpPr>
          <p:spPr>
            <a:xfrm>
              <a:off x="7843701" y="2653231"/>
              <a:ext cx="315925" cy="731675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" name="rc81"/>
            <p:cNvSpPr/>
            <p:nvPr/>
          </p:nvSpPr>
          <p:spPr>
            <a:xfrm>
              <a:off x="8295023" y="2653231"/>
              <a:ext cx="315925" cy="173224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" name="pl82"/>
            <p:cNvSpPr/>
            <p:nvPr/>
          </p:nvSpPr>
          <p:spPr>
            <a:xfrm>
              <a:off x="8159626" y="2653231"/>
              <a:ext cx="135396" cy="0"/>
            </a:xfrm>
            <a:custGeom>
              <a:avLst/>
              <a:pathLst>
                <a:path w="135396" h="0">
                  <a:moveTo>
                    <a:pt x="0" y="0"/>
                  </a:moveTo>
                  <a:lnTo>
                    <a:pt x="135396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84" name="rc83"/>
            <p:cNvSpPr/>
            <p:nvPr/>
          </p:nvSpPr>
          <p:spPr>
            <a:xfrm>
              <a:off x="8746344" y="2826455"/>
              <a:ext cx="315925" cy="221229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" name="pl84"/>
            <p:cNvSpPr/>
            <p:nvPr/>
          </p:nvSpPr>
          <p:spPr>
            <a:xfrm>
              <a:off x="8610948" y="2826455"/>
              <a:ext cx="135396" cy="0"/>
            </a:xfrm>
            <a:custGeom>
              <a:avLst/>
              <a:pathLst>
                <a:path w="135396" h="0">
                  <a:moveTo>
                    <a:pt x="0" y="0"/>
                  </a:moveTo>
                  <a:lnTo>
                    <a:pt x="135396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86" name="rc85"/>
            <p:cNvSpPr/>
            <p:nvPr/>
          </p:nvSpPr>
          <p:spPr>
            <a:xfrm>
              <a:off x="9197666" y="3047685"/>
              <a:ext cx="315925" cy="81873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" name="pl86"/>
            <p:cNvSpPr/>
            <p:nvPr/>
          </p:nvSpPr>
          <p:spPr>
            <a:xfrm>
              <a:off x="9062270" y="3047685"/>
              <a:ext cx="135396" cy="0"/>
            </a:xfrm>
            <a:custGeom>
              <a:avLst/>
              <a:pathLst>
                <a:path w="135396" h="0">
                  <a:moveTo>
                    <a:pt x="0" y="0"/>
                  </a:moveTo>
                  <a:lnTo>
                    <a:pt x="135396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88" name="tx87"/>
            <p:cNvSpPr/>
            <p:nvPr/>
          </p:nvSpPr>
          <p:spPr>
            <a:xfrm>
              <a:off x="7720311" y="2912456"/>
              <a:ext cx="562703" cy="1790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>
                  <a:solidFill>
                    <a:srgbClr val="FFFFFF">
                      <a:alpha val="100000"/>
                    </a:srgbClr>
                  </a:solidFill>
                  <a:latin typeface="theme_grattan"/>
                  <a:cs typeface="theme_grattan"/>
                </a:rPr>
                <a:t>$6180</a:t>
              </a:r>
            </a:p>
          </p:txBody>
        </p:sp>
        <p:sp>
          <p:nvSpPr>
            <p:cNvPr id="89" name="tx88"/>
            <p:cNvSpPr/>
            <p:nvPr/>
          </p:nvSpPr>
          <p:spPr>
            <a:xfrm>
              <a:off x="8137940" y="2633231"/>
              <a:ext cx="630089" cy="1790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>
                  <a:solidFill>
                    <a:srgbClr val="FFFFFF">
                      <a:alpha val="100000"/>
                    </a:srgbClr>
                  </a:solidFill>
                  <a:latin typeface="theme_grattan"/>
                  <a:cs typeface="theme_grattan"/>
                </a:rPr>
                <a:t>-$1460</a:t>
              </a:r>
            </a:p>
          </p:txBody>
        </p:sp>
        <p:sp>
          <p:nvSpPr>
            <p:cNvPr id="90" name="tx89"/>
            <p:cNvSpPr/>
            <p:nvPr/>
          </p:nvSpPr>
          <p:spPr>
            <a:xfrm>
              <a:off x="8589262" y="2830457"/>
              <a:ext cx="630089" cy="1790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>
                  <a:solidFill>
                    <a:srgbClr val="FFFFFF">
                      <a:alpha val="100000"/>
                    </a:srgbClr>
                  </a:solidFill>
                  <a:latin typeface="theme_grattan"/>
                  <a:cs typeface="theme_grattan"/>
                </a:rPr>
                <a:t>-$1870</a:t>
              </a:r>
            </a:p>
          </p:txBody>
        </p:sp>
        <p:sp>
          <p:nvSpPr>
            <p:cNvPr id="91" name="tx90"/>
            <p:cNvSpPr/>
            <p:nvPr/>
          </p:nvSpPr>
          <p:spPr>
            <a:xfrm>
              <a:off x="9096854" y="2982009"/>
              <a:ext cx="517549" cy="1790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>
                  <a:solidFill>
                    <a:srgbClr val="FFFFFF">
                      <a:alpha val="100000"/>
                    </a:srgbClr>
                  </a:solidFill>
                  <a:latin typeface="theme_grattan"/>
                  <a:cs typeface="theme_grattan"/>
                </a:rPr>
                <a:t>-$692</a:t>
              </a:r>
            </a:p>
          </p:txBody>
        </p:sp>
        <p:sp>
          <p:nvSpPr>
            <p:cNvPr id="92" name="rc91"/>
            <p:cNvSpPr/>
            <p:nvPr/>
          </p:nvSpPr>
          <p:spPr>
            <a:xfrm>
              <a:off x="9648988" y="3129558"/>
              <a:ext cx="315925" cy="255348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3" name="tx92"/>
            <p:cNvSpPr/>
            <p:nvPr/>
          </p:nvSpPr>
          <p:spPr>
            <a:xfrm>
              <a:off x="9525599" y="3150620"/>
              <a:ext cx="562703" cy="1790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>
                  <a:solidFill>
                    <a:srgbClr val="FFFFFF">
                      <a:alpha val="100000"/>
                    </a:srgbClr>
                  </a:solidFill>
                  <a:latin typeface="theme_grattan"/>
                  <a:cs typeface="theme_grattan"/>
                </a:rPr>
                <a:t>$2160</a:t>
              </a:r>
            </a:p>
          </p:txBody>
        </p:sp>
        <p:sp>
          <p:nvSpPr>
            <p:cNvPr id="94" name="pl93"/>
            <p:cNvSpPr/>
            <p:nvPr/>
          </p:nvSpPr>
          <p:spPr>
            <a:xfrm>
              <a:off x="9513591" y="3129558"/>
              <a:ext cx="135396" cy="0"/>
            </a:xfrm>
            <a:custGeom>
              <a:avLst/>
              <a:pathLst>
                <a:path w="135396" h="0">
                  <a:moveTo>
                    <a:pt x="0" y="0"/>
                  </a:moveTo>
                  <a:lnTo>
                    <a:pt x="135396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95" name="pg94"/>
            <p:cNvSpPr/>
            <p:nvPr/>
          </p:nvSpPr>
          <p:spPr>
            <a:xfrm>
              <a:off x="8633514" y="2609916"/>
              <a:ext cx="1444229" cy="259853"/>
            </a:xfrm>
            <a:custGeom>
              <a:avLst/>
              <a:pathLst>
                <a:path w="1444229" h="259853">
                  <a:moveTo>
                    <a:pt x="41147" y="259853"/>
                  </a:moveTo>
                  <a:lnTo>
                    <a:pt x="1444229" y="259853"/>
                  </a:lnTo>
                  <a:lnTo>
                    <a:pt x="1444229" y="0"/>
                  </a:lnTo>
                  <a:lnTo>
                    <a:pt x="41147" y="0"/>
                  </a:lnTo>
                  <a:lnTo>
                    <a:pt x="46107" y="300"/>
                  </a:lnTo>
                  <a:lnTo>
                    <a:pt x="39491" y="33"/>
                  </a:lnTo>
                  <a:lnTo>
                    <a:pt x="32917" y="831"/>
                  </a:lnTo>
                  <a:lnTo>
                    <a:pt x="26556" y="2673"/>
                  </a:lnTo>
                  <a:lnTo>
                    <a:pt x="20573" y="5512"/>
                  </a:lnTo>
                  <a:lnTo>
                    <a:pt x="15124" y="9274"/>
                  </a:lnTo>
                  <a:lnTo>
                    <a:pt x="10348" y="13861"/>
                  </a:lnTo>
                  <a:lnTo>
                    <a:pt x="6370" y="19155"/>
                  </a:lnTo>
                  <a:lnTo>
                    <a:pt x="3292" y="25019"/>
                  </a:lnTo>
                  <a:lnTo>
                    <a:pt x="1195" y="31300"/>
                  </a:lnTo>
                  <a:lnTo>
                    <a:pt x="133" y="37836"/>
                  </a:lnTo>
                  <a:lnTo>
                    <a:pt x="0" y="41148"/>
                  </a:lnTo>
                  <a:lnTo>
                    <a:pt x="0" y="218705"/>
                  </a:lnTo>
                  <a:lnTo>
                    <a:pt x="133" y="215394"/>
                  </a:lnTo>
                  <a:lnTo>
                    <a:pt x="133" y="222016"/>
                  </a:lnTo>
                  <a:lnTo>
                    <a:pt x="1195" y="228553"/>
                  </a:lnTo>
                  <a:lnTo>
                    <a:pt x="3292" y="234834"/>
                  </a:lnTo>
                  <a:lnTo>
                    <a:pt x="6370" y="240698"/>
                  </a:lnTo>
                  <a:lnTo>
                    <a:pt x="10348" y="245992"/>
                  </a:lnTo>
                  <a:lnTo>
                    <a:pt x="15124" y="250579"/>
                  </a:lnTo>
                  <a:lnTo>
                    <a:pt x="20573" y="254341"/>
                  </a:lnTo>
                  <a:lnTo>
                    <a:pt x="26556" y="257179"/>
                  </a:lnTo>
                  <a:lnTo>
                    <a:pt x="32917" y="259022"/>
                  </a:lnTo>
                  <a:lnTo>
                    <a:pt x="39491" y="25982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6" name="tx95"/>
            <p:cNvSpPr/>
            <p:nvPr/>
          </p:nvSpPr>
          <p:spPr>
            <a:xfrm>
              <a:off x="8651802" y="2652444"/>
              <a:ext cx="1613706" cy="1692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Arial"/>
                  <a:cs typeface="Arial"/>
                </a:rPr>
                <a:t>Switch to an EV</a:t>
              </a:r>
            </a:p>
          </p:txBody>
        </p:sp>
        <p:sp>
          <p:nvSpPr>
            <p:cNvPr id="97" name="pg96"/>
            <p:cNvSpPr/>
            <p:nvPr/>
          </p:nvSpPr>
          <p:spPr>
            <a:xfrm>
              <a:off x="9084836" y="2807143"/>
              <a:ext cx="992907" cy="259853"/>
            </a:xfrm>
            <a:custGeom>
              <a:avLst/>
              <a:pathLst>
                <a:path w="992907" h="259853">
                  <a:moveTo>
                    <a:pt x="41148" y="259853"/>
                  </a:moveTo>
                  <a:lnTo>
                    <a:pt x="992907" y="259853"/>
                  </a:lnTo>
                  <a:lnTo>
                    <a:pt x="992907" y="0"/>
                  </a:lnTo>
                  <a:lnTo>
                    <a:pt x="41148" y="0"/>
                  </a:lnTo>
                  <a:lnTo>
                    <a:pt x="46107" y="300"/>
                  </a:lnTo>
                  <a:lnTo>
                    <a:pt x="39491" y="33"/>
                  </a:lnTo>
                  <a:lnTo>
                    <a:pt x="32917" y="831"/>
                  </a:lnTo>
                  <a:lnTo>
                    <a:pt x="26556" y="2673"/>
                  </a:lnTo>
                  <a:lnTo>
                    <a:pt x="20573" y="5512"/>
                  </a:lnTo>
                  <a:lnTo>
                    <a:pt x="15124" y="9274"/>
                  </a:lnTo>
                  <a:lnTo>
                    <a:pt x="10348" y="13861"/>
                  </a:lnTo>
                  <a:lnTo>
                    <a:pt x="6370" y="19155"/>
                  </a:lnTo>
                  <a:lnTo>
                    <a:pt x="3292" y="25019"/>
                  </a:lnTo>
                  <a:lnTo>
                    <a:pt x="1195" y="31300"/>
                  </a:lnTo>
                  <a:lnTo>
                    <a:pt x="133" y="37836"/>
                  </a:lnTo>
                  <a:lnTo>
                    <a:pt x="0" y="41147"/>
                  </a:lnTo>
                  <a:lnTo>
                    <a:pt x="0" y="218705"/>
                  </a:lnTo>
                  <a:lnTo>
                    <a:pt x="133" y="215394"/>
                  </a:lnTo>
                  <a:lnTo>
                    <a:pt x="133" y="222016"/>
                  </a:lnTo>
                  <a:lnTo>
                    <a:pt x="1195" y="228553"/>
                  </a:lnTo>
                  <a:lnTo>
                    <a:pt x="3292" y="234834"/>
                  </a:lnTo>
                  <a:lnTo>
                    <a:pt x="6370" y="240698"/>
                  </a:lnTo>
                  <a:lnTo>
                    <a:pt x="10348" y="245992"/>
                  </a:lnTo>
                  <a:lnTo>
                    <a:pt x="15124" y="250579"/>
                  </a:lnTo>
                  <a:lnTo>
                    <a:pt x="20573" y="254341"/>
                  </a:lnTo>
                  <a:lnTo>
                    <a:pt x="26556" y="257179"/>
                  </a:lnTo>
                  <a:lnTo>
                    <a:pt x="32917" y="259022"/>
                  </a:lnTo>
                  <a:lnTo>
                    <a:pt x="39491" y="25982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8" name="tx97"/>
            <p:cNvSpPr/>
            <p:nvPr/>
          </p:nvSpPr>
          <p:spPr>
            <a:xfrm>
              <a:off x="9103124" y="2852573"/>
              <a:ext cx="1156171" cy="1663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Arial"/>
                  <a:cs typeface="Arial"/>
                </a:rPr>
                <a:t>Install solar</a:t>
              </a:r>
            </a:p>
          </p:txBody>
        </p:sp>
        <p:sp>
          <p:nvSpPr>
            <p:cNvPr id="99" name="pg98"/>
            <p:cNvSpPr/>
            <p:nvPr/>
          </p:nvSpPr>
          <p:spPr>
            <a:xfrm>
              <a:off x="9536157" y="2958694"/>
              <a:ext cx="541586" cy="259853"/>
            </a:xfrm>
            <a:custGeom>
              <a:avLst/>
              <a:pathLst>
                <a:path w="541586" h="259853">
                  <a:moveTo>
                    <a:pt x="41148" y="259853"/>
                  </a:moveTo>
                  <a:lnTo>
                    <a:pt x="541586" y="259853"/>
                  </a:lnTo>
                  <a:lnTo>
                    <a:pt x="541586" y="0"/>
                  </a:lnTo>
                  <a:lnTo>
                    <a:pt x="41148" y="0"/>
                  </a:lnTo>
                  <a:lnTo>
                    <a:pt x="46107" y="300"/>
                  </a:lnTo>
                  <a:lnTo>
                    <a:pt x="39491" y="33"/>
                  </a:lnTo>
                  <a:lnTo>
                    <a:pt x="32917" y="831"/>
                  </a:lnTo>
                  <a:lnTo>
                    <a:pt x="26556" y="2673"/>
                  </a:lnTo>
                  <a:lnTo>
                    <a:pt x="20573" y="5512"/>
                  </a:lnTo>
                  <a:lnTo>
                    <a:pt x="15124" y="9274"/>
                  </a:lnTo>
                  <a:lnTo>
                    <a:pt x="10348" y="13861"/>
                  </a:lnTo>
                  <a:lnTo>
                    <a:pt x="6370" y="19155"/>
                  </a:lnTo>
                  <a:lnTo>
                    <a:pt x="3292" y="25019"/>
                  </a:lnTo>
                  <a:lnTo>
                    <a:pt x="1195" y="31300"/>
                  </a:lnTo>
                  <a:lnTo>
                    <a:pt x="133" y="37836"/>
                  </a:lnTo>
                  <a:lnTo>
                    <a:pt x="0" y="41148"/>
                  </a:lnTo>
                  <a:lnTo>
                    <a:pt x="0" y="218705"/>
                  </a:lnTo>
                  <a:lnTo>
                    <a:pt x="133" y="215394"/>
                  </a:lnTo>
                  <a:lnTo>
                    <a:pt x="133" y="222016"/>
                  </a:lnTo>
                  <a:lnTo>
                    <a:pt x="1195" y="228553"/>
                  </a:lnTo>
                  <a:lnTo>
                    <a:pt x="3292" y="234834"/>
                  </a:lnTo>
                  <a:lnTo>
                    <a:pt x="6370" y="240698"/>
                  </a:lnTo>
                  <a:lnTo>
                    <a:pt x="10348" y="245992"/>
                  </a:lnTo>
                  <a:lnTo>
                    <a:pt x="15124" y="250579"/>
                  </a:lnTo>
                  <a:lnTo>
                    <a:pt x="20573" y="254341"/>
                  </a:lnTo>
                  <a:lnTo>
                    <a:pt x="26556" y="257179"/>
                  </a:lnTo>
                  <a:lnTo>
                    <a:pt x="32917" y="259022"/>
                  </a:lnTo>
                  <a:lnTo>
                    <a:pt x="39491" y="25982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0" name="tx99"/>
            <p:cNvSpPr/>
            <p:nvPr/>
          </p:nvSpPr>
          <p:spPr>
            <a:xfrm>
              <a:off x="9554445" y="2955904"/>
              <a:ext cx="1245021" cy="2145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Arial"/>
                  <a:cs typeface="Arial"/>
                </a:rPr>
                <a:t>Electrify gas</a:t>
              </a:r>
            </a:p>
          </p:txBody>
        </p:sp>
        <p:sp>
          <p:nvSpPr>
            <p:cNvPr id="101" name="pl100"/>
            <p:cNvSpPr/>
            <p:nvPr/>
          </p:nvSpPr>
          <p:spPr>
            <a:xfrm>
              <a:off x="7730870" y="3384906"/>
              <a:ext cx="2346873" cy="0"/>
            </a:xfrm>
            <a:custGeom>
              <a:avLst/>
              <a:pathLst>
                <a:path w="2346873" h="0">
                  <a:moveTo>
                    <a:pt x="0" y="0"/>
                  </a:moveTo>
                  <a:lnTo>
                    <a:pt x="2346873" y="0"/>
                  </a:lnTo>
                </a:path>
              </a:pathLst>
            </a:custGeom>
            <a:ln w="952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l101"/>
            <p:cNvSpPr/>
            <p:nvPr/>
          </p:nvSpPr>
          <p:spPr>
            <a:xfrm>
              <a:off x="8001663" y="3384906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l102"/>
            <p:cNvSpPr/>
            <p:nvPr/>
          </p:nvSpPr>
          <p:spPr>
            <a:xfrm>
              <a:off x="9806950" y="3384906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tx103"/>
            <p:cNvSpPr/>
            <p:nvPr/>
          </p:nvSpPr>
          <p:spPr>
            <a:xfrm>
              <a:off x="7169472" y="3481922"/>
              <a:ext cx="1664382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Fossil fuel home</a:t>
              </a:r>
            </a:p>
          </p:txBody>
        </p:sp>
        <p:sp>
          <p:nvSpPr>
            <p:cNvPr id="105" name="tx104"/>
            <p:cNvSpPr/>
            <p:nvPr/>
          </p:nvSpPr>
          <p:spPr>
            <a:xfrm>
              <a:off x="8727016" y="3436492"/>
              <a:ext cx="2159868" cy="2145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Fully electrified home</a:t>
              </a:r>
            </a:p>
          </p:txBody>
        </p:sp>
        <p:sp>
          <p:nvSpPr>
            <p:cNvPr id="106" name="tx105"/>
            <p:cNvSpPr/>
            <p:nvPr/>
          </p:nvSpPr>
          <p:spPr>
            <a:xfrm>
              <a:off x="8734700" y="1985019"/>
              <a:ext cx="282277" cy="1505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6A737B">
                      <a:alpha val="100000"/>
                    </a:srgbClr>
                  </a:solidFill>
                  <a:latin typeface="Arial"/>
                  <a:cs typeface="Arial"/>
                </a:rPr>
                <a:t>SA</a:t>
              </a:r>
            </a:p>
          </p:txBody>
        </p:sp>
        <p:sp>
          <p:nvSpPr>
            <p:cNvPr id="107" name="rc106"/>
            <p:cNvSpPr/>
            <p:nvPr/>
          </p:nvSpPr>
          <p:spPr>
            <a:xfrm>
              <a:off x="2700137" y="4379637"/>
              <a:ext cx="2346873" cy="109273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8" name="pl107"/>
            <p:cNvSpPr/>
            <p:nvPr/>
          </p:nvSpPr>
          <p:spPr>
            <a:xfrm>
              <a:off x="2700137" y="5472373"/>
              <a:ext cx="2346873" cy="0"/>
            </a:xfrm>
            <a:custGeom>
              <a:avLst/>
              <a:pathLst>
                <a:path w="2346873" h="0">
                  <a:moveTo>
                    <a:pt x="0" y="0"/>
                  </a:moveTo>
                  <a:lnTo>
                    <a:pt x="2346873" y="0"/>
                  </a:lnTo>
                  <a:lnTo>
                    <a:pt x="2346873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8"/>
            <p:cNvSpPr/>
            <p:nvPr/>
          </p:nvSpPr>
          <p:spPr>
            <a:xfrm>
              <a:off x="2700137" y="5176607"/>
              <a:ext cx="2346873" cy="0"/>
            </a:xfrm>
            <a:custGeom>
              <a:avLst/>
              <a:pathLst>
                <a:path w="2346873" h="0">
                  <a:moveTo>
                    <a:pt x="0" y="0"/>
                  </a:moveTo>
                  <a:lnTo>
                    <a:pt x="2346873" y="0"/>
                  </a:lnTo>
                  <a:lnTo>
                    <a:pt x="2346873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09"/>
            <p:cNvSpPr/>
            <p:nvPr/>
          </p:nvSpPr>
          <p:spPr>
            <a:xfrm>
              <a:off x="2700137" y="4880842"/>
              <a:ext cx="2346873" cy="0"/>
            </a:xfrm>
            <a:custGeom>
              <a:avLst/>
              <a:pathLst>
                <a:path w="2346873" h="0">
                  <a:moveTo>
                    <a:pt x="0" y="0"/>
                  </a:moveTo>
                  <a:lnTo>
                    <a:pt x="2346873" y="0"/>
                  </a:lnTo>
                  <a:lnTo>
                    <a:pt x="2346873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l110"/>
            <p:cNvSpPr/>
            <p:nvPr/>
          </p:nvSpPr>
          <p:spPr>
            <a:xfrm>
              <a:off x="2700137" y="4585076"/>
              <a:ext cx="2346873" cy="0"/>
            </a:xfrm>
            <a:custGeom>
              <a:avLst/>
              <a:pathLst>
                <a:path w="2346873" h="0">
                  <a:moveTo>
                    <a:pt x="0" y="0"/>
                  </a:moveTo>
                  <a:lnTo>
                    <a:pt x="2346873" y="0"/>
                  </a:lnTo>
                  <a:lnTo>
                    <a:pt x="2346873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rc111"/>
            <p:cNvSpPr/>
            <p:nvPr/>
          </p:nvSpPr>
          <p:spPr>
            <a:xfrm>
              <a:off x="2812968" y="4399732"/>
              <a:ext cx="315925" cy="1072640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3" name="rc112"/>
            <p:cNvSpPr/>
            <p:nvPr/>
          </p:nvSpPr>
          <p:spPr>
            <a:xfrm>
              <a:off x="3264290" y="4399732"/>
              <a:ext cx="315925" cy="173286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4" name="pl113"/>
            <p:cNvSpPr/>
            <p:nvPr/>
          </p:nvSpPr>
          <p:spPr>
            <a:xfrm>
              <a:off x="3128893" y="4399732"/>
              <a:ext cx="135396" cy="0"/>
            </a:xfrm>
            <a:custGeom>
              <a:avLst/>
              <a:pathLst>
                <a:path w="135396" h="0">
                  <a:moveTo>
                    <a:pt x="0" y="0"/>
                  </a:moveTo>
                  <a:lnTo>
                    <a:pt x="135396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15" name="rc114"/>
            <p:cNvSpPr/>
            <p:nvPr/>
          </p:nvSpPr>
          <p:spPr>
            <a:xfrm>
              <a:off x="3715611" y="4573018"/>
              <a:ext cx="315925" cy="164940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6" name="pl115"/>
            <p:cNvSpPr/>
            <p:nvPr/>
          </p:nvSpPr>
          <p:spPr>
            <a:xfrm>
              <a:off x="3580215" y="4573018"/>
              <a:ext cx="135396" cy="0"/>
            </a:xfrm>
            <a:custGeom>
              <a:avLst/>
              <a:pathLst>
                <a:path w="135396" h="0">
                  <a:moveTo>
                    <a:pt x="0" y="0"/>
                  </a:moveTo>
                  <a:lnTo>
                    <a:pt x="135396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17" name="rc116"/>
            <p:cNvSpPr/>
            <p:nvPr/>
          </p:nvSpPr>
          <p:spPr>
            <a:xfrm>
              <a:off x="4166933" y="4737959"/>
              <a:ext cx="315925" cy="472676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8" name="pl117"/>
            <p:cNvSpPr/>
            <p:nvPr/>
          </p:nvSpPr>
          <p:spPr>
            <a:xfrm>
              <a:off x="4031537" y="4737959"/>
              <a:ext cx="135396" cy="0"/>
            </a:xfrm>
            <a:custGeom>
              <a:avLst/>
              <a:pathLst>
                <a:path w="135396" h="0">
                  <a:moveTo>
                    <a:pt x="0" y="0"/>
                  </a:moveTo>
                  <a:lnTo>
                    <a:pt x="135396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19" name="tx118"/>
            <p:cNvSpPr/>
            <p:nvPr/>
          </p:nvSpPr>
          <p:spPr>
            <a:xfrm>
              <a:off x="2689578" y="4829440"/>
              <a:ext cx="562703" cy="1790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>
                  <a:solidFill>
                    <a:srgbClr val="FFFFFF">
                      <a:alpha val="100000"/>
                    </a:srgbClr>
                  </a:solidFill>
                  <a:latin typeface="theme_grattan"/>
                  <a:cs typeface="theme_grattan"/>
                </a:rPr>
                <a:t>$9070</a:t>
              </a:r>
            </a:p>
          </p:txBody>
        </p:sp>
        <p:sp>
          <p:nvSpPr>
            <p:cNvPr id="120" name="tx119"/>
            <p:cNvSpPr/>
            <p:nvPr/>
          </p:nvSpPr>
          <p:spPr>
            <a:xfrm>
              <a:off x="3107207" y="4379763"/>
              <a:ext cx="630089" cy="1790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>
                  <a:solidFill>
                    <a:srgbClr val="FFFFFF">
                      <a:alpha val="100000"/>
                    </a:srgbClr>
                  </a:solidFill>
                  <a:latin typeface="theme_grattan"/>
                  <a:cs typeface="theme_grattan"/>
                </a:rPr>
                <a:t>-$1460</a:t>
              </a:r>
            </a:p>
          </p:txBody>
        </p:sp>
        <p:sp>
          <p:nvSpPr>
            <p:cNvPr id="121" name="tx120"/>
            <p:cNvSpPr/>
            <p:nvPr/>
          </p:nvSpPr>
          <p:spPr>
            <a:xfrm>
              <a:off x="3558529" y="4548876"/>
              <a:ext cx="630089" cy="1790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>
                  <a:solidFill>
                    <a:srgbClr val="FFFFFF">
                      <a:alpha val="100000"/>
                    </a:srgbClr>
                  </a:solidFill>
                  <a:latin typeface="theme_grattan"/>
                  <a:cs typeface="theme_grattan"/>
                </a:rPr>
                <a:t>-$1390</a:t>
              </a:r>
            </a:p>
          </p:txBody>
        </p:sp>
        <p:sp>
          <p:nvSpPr>
            <p:cNvPr id="122" name="tx121"/>
            <p:cNvSpPr/>
            <p:nvPr/>
          </p:nvSpPr>
          <p:spPr>
            <a:xfrm>
              <a:off x="4009851" y="4867685"/>
              <a:ext cx="630089" cy="1790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>
                  <a:solidFill>
                    <a:srgbClr val="FFFFFF">
                      <a:alpha val="100000"/>
                    </a:srgbClr>
                  </a:solidFill>
                  <a:latin typeface="theme_grattan"/>
                  <a:cs typeface="theme_grattan"/>
                </a:rPr>
                <a:t>-$4000</a:t>
              </a:r>
            </a:p>
          </p:txBody>
        </p:sp>
        <p:sp>
          <p:nvSpPr>
            <p:cNvPr id="123" name="rc122"/>
            <p:cNvSpPr/>
            <p:nvPr/>
          </p:nvSpPr>
          <p:spPr>
            <a:xfrm>
              <a:off x="4618255" y="5210635"/>
              <a:ext cx="315925" cy="261737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4" name="tx123"/>
            <p:cNvSpPr/>
            <p:nvPr/>
          </p:nvSpPr>
          <p:spPr>
            <a:xfrm>
              <a:off x="4494866" y="5234892"/>
              <a:ext cx="562703" cy="1790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>
                  <a:solidFill>
                    <a:srgbClr val="FFFFFF">
                      <a:alpha val="100000"/>
                    </a:srgbClr>
                  </a:solidFill>
                  <a:latin typeface="theme_grattan"/>
                  <a:cs typeface="theme_grattan"/>
                </a:rPr>
                <a:t>$2210</a:t>
              </a:r>
            </a:p>
          </p:txBody>
        </p:sp>
        <p:sp>
          <p:nvSpPr>
            <p:cNvPr id="125" name="pl124"/>
            <p:cNvSpPr/>
            <p:nvPr/>
          </p:nvSpPr>
          <p:spPr>
            <a:xfrm>
              <a:off x="4482858" y="5210635"/>
              <a:ext cx="135396" cy="0"/>
            </a:xfrm>
            <a:custGeom>
              <a:avLst/>
              <a:pathLst>
                <a:path w="135396" h="0">
                  <a:moveTo>
                    <a:pt x="0" y="0"/>
                  </a:moveTo>
                  <a:lnTo>
                    <a:pt x="135396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26" name="pg125"/>
            <p:cNvSpPr/>
            <p:nvPr/>
          </p:nvSpPr>
          <p:spPr>
            <a:xfrm>
              <a:off x="3602781" y="4379637"/>
              <a:ext cx="1444229" cy="236664"/>
            </a:xfrm>
            <a:custGeom>
              <a:avLst/>
              <a:pathLst>
                <a:path w="1444229" h="236664">
                  <a:moveTo>
                    <a:pt x="41147" y="236664"/>
                  </a:moveTo>
                  <a:lnTo>
                    <a:pt x="1444229" y="236664"/>
                  </a:lnTo>
                  <a:lnTo>
                    <a:pt x="1444229" y="0"/>
                  </a:lnTo>
                  <a:lnTo>
                    <a:pt x="4253" y="0"/>
                  </a:lnTo>
                  <a:lnTo>
                    <a:pt x="3292" y="1829"/>
                  </a:lnTo>
                  <a:lnTo>
                    <a:pt x="1195" y="8111"/>
                  </a:lnTo>
                  <a:lnTo>
                    <a:pt x="133" y="14647"/>
                  </a:lnTo>
                  <a:lnTo>
                    <a:pt x="0" y="17958"/>
                  </a:lnTo>
                  <a:lnTo>
                    <a:pt x="0" y="195516"/>
                  </a:lnTo>
                  <a:lnTo>
                    <a:pt x="133" y="192205"/>
                  </a:lnTo>
                  <a:lnTo>
                    <a:pt x="133" y="198827"/>
                  </a:lnTo>
                  <a:lnTo>
                    <a:pt x="1195" y="205363"/>
                  </a:lnTo>
                  <a:lnTo>
                    <a:pt x="3292" y="211645"/>
                  </a:lnTo>
                  <a:lnTo>
                    <a:pt x="6370" y="217508"/>
                  </a:lnTo>
                  <a:lnTo>
                    <a:pt x="10348" y="222802"/>
                  </a:lnTo>
                  <a:lnTo>
                    <a:pt x="15124" y="227389"/>
                  </a:lnTo>
                  <a:lnTo>
                    <a:pt x="20574" y="231151"/>
                  </a:lnTo>
                  <a:lnTo>
                    <a:pt x="26556" y="233990"/>
                  </a:lnTo>
                  <a:lnTo>
                    <a:pt x="32917" y="235832"/>
                  </a:lnTo>
                  <a:lnTo>
                    <a:pt x="39491" y="23663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7" name="tx126"/>
            <p:cNvSpPr/>
            <p:nvPr/>
          </p:nvSpPr>
          <p:spPr>
            <a:xfrm>
              <a:off x="3621069" y="4398976"/>
              <a:ext cx="1613706" cy="1692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Arial"/>
                  <a:cs typeface="Arial"/>
                </a:rPr>
                <a:t>Switch to an EV</a:t>
              </a:r>
            </a:p>
          </p:txBody>
        </p:sp>
        <p:sp>
          <p:nvSpPr>
            <p:cNvPr id="128" name="pg127"/>
            <p:cNvSpPr/>
            <p:nvPr/>
          </p:nvSpPr>
          <p:spPr>
            <a:xfrm>
              <a:off x="4054103" y="4525562"/>
              <a:ext cx="992907" cy="259853"/>
            </a:xfrm>
            <a:custGeom>
              <a:avLst/>
              <a:pathLst>
                <a:path w="992907" h="259853">
                  <a:moveTo>
                    <a:pt x="41148" y="259853"/>
                  </a:moveTo>
                  <a:lnTo>
                    <a:pt x="992907" y="259853"/>
                  </a:lnTo>
                  <a:lnTo>
                    <a:pt x="992907" y="0"/>
                  </a:lnTo>
                  <a:lnTo>
                    <a:pt x="41148" y="0"/>
                  </a:lnTo>
                  <a:lnTo>
                    <a:pt x="46107" y="300"/>
                  </a:lnTo>
                  <a:lnTo>
                    <a:pt x="39491" y="33"/>
                  </a:lnTo>
                  <a:lnTo>
                    <a:pt x="32917" y="831"/>
                  </a:lnTo>
                  <a:lnTo>
                    <a:pt x="26556" y="2673"/>
                  </a:lnTo>
                  <a:lnTo>
                    <a:pt x="20574" y="5512"/>
                  </a:lnTo>
                  <a:lnTo>
                    <a:pt x="15124" y="9274"/>
                  </a:lnTo>
                  <a:lnTo>
                    <a:pt x="10348" y="13861"/>
                  </a:lnTo>
                  <a:lnTo>
                    <a:pt x="6370" y="19155"/>
                  </a:lnTo>
                  <a:lnTo>
                    <a:pt x="3292" y="25019"/>
                  </a:lnTo>
                  <a:lnTo>
                    <a:pt x="1195" y="31300"/>
                  </a:lnTo>
                  <a:lnTo>
                    <a:pt x="133" y="37836"/>
                  </a:lnTo>
                  <a:lnTo>
                    <a:pt x="0" y="41148"/>
                  </a:lnTo>
                  <a:lnTo>
                    <a:pt x="0" y="218705"/>
                  </a:lnTo>
                  <a:lnTo>
                    <a:pt x="133" y="215394"/>
                  </a:lnTo>
                  <a:lnTo>
                    <a:pt x="133" y="222016"/>
                  </a:lnTo>
                  <a:lnTo>
                    <a:pt x="1195" y="228553"/>
                  </a:lnTo>
                  <a:lnTo>
                    <a:pt x="3292" y="234834"/>
                  </a:lnTo>
                  <a:lnTo>
                    <a:pt x="6370" y="240698"/>
                  </a:lnTo>
                  <a:lnTo>
                    <a:pt x="10348" y="245992"/>
                  </a:lnTo>
                  <a:lnTo>
                    <a:pt x="15124" y="250579"/>
                  </a:lnTo>
                  <a:lnTo>
                    <a:pt x="20574" y="254341"/>
                  </a:lnTo>
                  <a:lnTo>
                    <a:pt x="26556" y="257179"/>
                  </a:lnTo>
                  <a:lnTo>
                    <a:pt x="32917" y="259022"/>
                  </a:lnTo>
                  <a:lnTo>
                    <a:pt x="39491" y="25982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9" name="tx128"/>
            <p:cNvSpPr/>
            <p:nvPr/>
          </p:nvSpPr>
          <p:spPr>
            <a:xfrm>
              <a:off x="4072391" y="4570991"/>
              <a:ext cx="1156171" cy="1663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Arial"/>
                  <a:cs typeface="Arial"/>
                </a:rPr>
                <a:t>Install solar</a:t>
              </a:r>
            </a:p>
          </p:txBody>
        </p:sp>
        <p:sp>
          <p:nvSpPr>
            <p:cNvPr id="130" name="pg129"/>
            <p:cNvSpPr/>
            <p:nvPr/>
          </p:nvSpPr>
          <p:spPr>
            <a:xfrm>
              <a:off x="4505424" y="4844370"/>
              <a:ext cx="541586" cy="259853"/>
            </a:xfrm>
            <a:custGeom>
              <a:avLst/>
              <a:pathLst>
                <a:path w="541586" h="259853">
                  <a:moveTo>
                    <a:pt x="41147" y="259853"/>
                  </a:moveTo>
                  <a:lnTo>
                    <a:pt x="541586" y="259853"/>
                  </a:lnTo>
                  <a:lnTo>
                    <a:pt x="541586" y="0"/>
                  </a:lnTo>
                  <a:lnTo>
                    <a:pt x="41147" y="0"/>
                  </a:lnTo>
                  <a:lnTo>
                    <a:pt x="46107" y="300"/>
                  </a:lnTo>
                  <a:lnTo>
                    <a:pt x="39491" y="33"/>
                  </a:lnTo>
                  <a:lnTo>
                    <a:pt x="32917" y="831"/>
                  </a:lnTo>
                  <a:lnTo>
                    <a:pt x="26556" y="2673"/>
                  </a:lnTo>
                  <a:lnTo>
                    <a:pt x="20573" y="5512"/>
                  </a:lnTo>
                  <a:lnTo>
                    <a:pt x="15124" y="9274"/>
                  </a:lnTo>
                  <a:lnTo>
                    <a:pt x="10348" y="13861"/>
                  </a:lnTo>
                  <a:lnTo>
                    <a:pt x="6370" y="19155"/>
                  </a:lnTo>
                  <a:lnTo>
                    <a:pt x="3292" y="25019"/>
                  </a:lnTo>
                  <a:lnTo>
                    <a:pt x="1195" y="31300"/>
                  </a:lnTo>
                  <a:lnTo>
                    <a:pt x="133" y="37836"/>
                  </a:lnTo>
                  <a:lnTo>
                    <a:pt x="0" y="41148"/>
                  </a:lnTo>
                  <a:lnTo>
                    <a:pt x="0" y="218705"/>
                  </a:lnTo>
                  <a:lnTo>
                    <a:pt x="133" y="215394"/>
                  </a:lnTo>
                  <a:lnTo>
                    <a:pt x="133" y="222016"/>
                  </a:lnTo>
                  <a:lnTo>
                    <a:pt x="1195" y="228553"/>
                  </a:lnTo>
                  <a:lnTo>
                    <a:pt x="3292" y="234834"/>
                  </a:lnTo>
                  <a:lnTo>
                    <a:pt x="6370" y="240698"/>
                  </a:lnTo>
                  <a:lnTo>
                    <a:pt x="10348" y="245992"/>
                  </a:lnTo>
                  <a:lnTo>
                    <a:pt x="15124" y="250579"/>
                  </a:lnTo>
                  <a:lnTo>
                    <a:pt x="20573" y="254341"/>
                  </a:lnTo>
                  <a:lnTo>
                    <a:pt x="26556" y="257179"/>
                  </a:lnTo>
                  <a:lnTo>
                    <a:pt x="32917" y="259022"/>
                  </a:lnTo>
                  <a:lnTo>
                    <a:pt x="39491" y="25982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1" name="tx130"/>
            <p:cNvSpPr/>
            <p:nvPr/>
          </p:nvSpPr>
          <p:spPr>
            <a:xfrm>
              <a:off x="4523712" y="4841580"/>
              <a:ext cx="1245021" cy="2145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Arial"/>
                  <a:cs typeface="Arial"/>
                </a:rPr>
                <a:t>Electrify gas</a:t>
              </a:r>
            </a:p>
          </p:txBody>
        </p:sp>
        <p:sp>
          <p:nvSpPr>
            <p:cNvPr id="132" name="tx131"/>
            <p:cNvSpPr/>
            <p:nvPr/>
          </p:nvSpPr>
          <p:spPr>
            <a:xfrm>
              <a:off x="2343379" y="5351934"/>
              <a:ext cx="254272" cy="2022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$0</a:t>
              </a:r>
            </a:p>
          </p:txBody>
        </p:sp>
        <p:sp>
          <p:nvSpPr>
            <p:cNvPr id="133" name="tx132"/>
            <p:cNvSpPr/>
            <p:nvPr/>
          </p:nvSpPr>
          <p:spPr>
            <a:xfrm>
              <a:off x="1898457" y="5047350"/>
              <a:ext cx="699194" cy="2110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$2,500</a:t>
              </a:r>
            </a:p>
          </p:txBody>
        </p:sp>
        <p:sp>
          <p:nvSpPr>
            <p:cNvPr id="134" name="tx133"/>
            <p:cNvSpPr/>
            <p:nvPr/>
          </p:nvSpPr>
          <p:spPr>
            <a:xfrm>
              <a:off x="1898457" y="4751585"/>
              <a:ext cx="699194" cy="2110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$5,000</a:t>
              </a:r>
            </a:p>
          </p:txBody>
        </p:sp>
        <p:sp>
          <p:nvSpPr>
            <p:cNvPr id="135" name="tx134"/>
            <p:cNvSpPr/>
            <p:nvPr/>
          </p:nvSpPr>
          <p:spPr>
            <a:xfrm>
              <a:off x="1898457" y="4455819"/>
              <a:ext cx="699194" cy="2110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$7,500</a:t>
              </a:r>
            </a:p>
          </p:txBody>
        </p:sp>
        <p:sp>
          <p:nvSpPr>
            <p:cNvPr id="136" name="pl135"/>
            <p:cNvSpPr/>
            <p:nvPr/>
          </p:nvSpPr>
          <p:spPr>
            <a:xfrm>
              <a:off x="2700137" y="5472373"/>
              <a:ext cx="2346873" cy="0"/>
            </a:xfrm>
            <a:custGeom>
              <a:avLst/>
              <a:pathLst>
                <a:path w="2346873" h="0">
                  <a:moveTo>
                    <a:pt x="0" y="0"/>
                  </a:moveTo>
                  <a:lnTo>
                    <a:pt x="2346873" y="0"/>
                  </a:lnTo>
                </a:path>
              </a:pathLst>
            </a:custGeom>
            <a:ln w="952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l136"/>
            <p:cNvSpPr/>
            <p:nvPr/>
          </p:nvSpPr>
          <p:spPr>
            <a:xfrm>
              <a:off x="2970930" y="5472373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l137"/>
            <p:cNvSpPr/>
            <p:nvPr/>
          </p:nvSpPr>
          <p:spPr>
            <a:xfrm>
              <a:off x="4776217" y="5472373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tx138"/>
            <p:cNvSpPr/>
            <p:nvPr/>
          </p:nvSpPr>
          <p:spPr>
            <a:xfrm>
              <a:off x="2138739" y="5569389"/>
              <a:ext cx="1664382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Fossil fuel home</a:t>
              </a:r>
            </a:p>
          </p:txBody>
        </p:sp>
        <p:sp>
          <p:nvSpPr>
            <p:cNvPr id="140" name="tx139"/>
            <p:cNvSpPr/>
            <p:nvPr/>
          </p:nvSpPr>
          <p:spPr>
            <a:xfrm>
              <a:off x="3696283" y="5523959"/>
              <a:ext cx="2159868" cy="2145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Fully electrified home</a:t>
              </a:r>
            </a:p>
          </p:txBody>
        </p:sp>
        <p:sp>
          <p:nvSpPr>
            <p:cNvPr id="141" name="tx140"/>
            <p:cNvSpPr/>
            <p:nvPr/>
          </p:nvSpPr>
          <p:spPr>
            <a:xfrm>
              <a:off x="3297662" y="4075165"/>
              <a:ext cx="350142" cy="1478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6A737B">
                      <a:alpha val="100000"/>
                    </a:srgbClr>
                  </a:solidFill>
                  <a:latin typeface="Arial"/>
                  <a:cs typeface="Arial"/>
                </a:rPr>
                <a:t>Tas</a:t>
              </a:r>
            </a:p>
          </p:txBody>
        </p:sp>
        <p:sp>
          <p:nvSpPr>
            <p:cNvPr id="142" name="rc141"/>
            <p:cNvSpPr/>
            <p:nvPr/>
          </p:nvSpPr>
          <p:spPr>
            <a:xfrm>
              <a:off x="5215504" y="4379637"/>
              <a:ext cx="2346873" cy="109273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3" name="pl142"/>
            <p:cNvSpPr/>
            <p:nvPr/>
          </p:nvSpPr>
          <p:spPr>
            <a:xfrm>
              <a:off x="5215504" y="5472373"/>
              <a:ext cx="2346873" cy="0"/>
            </a:xfrm>
            <a:custGeom>
              <a:avLst/>
              <a:pathLst>
                <a:path w="2346873" h="0">
                  <a:moveTo>
                    <a:pt x="0" y="0"/>
                  </a:moveTo>
                  <a:lnTo>
                    <a:pt x="2346873" y="0"/>
                  </a:lnTo>
                  <a:lnTo>
                    <a:pt x="2346873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l143"/>
            <p:cNvSpPr/>
            <p:nvPr/>
          </p:nvSpPr>
          <p:spPr>
            <a:xfrm>
              <a:off x="5215504" y="5176607"/>
              <a:ext cx="2346873" cy="0"/>
            </a:xfrm>
            <a:custGeom>
              <a:avLst/>
              <a:pathLst>
                <a:path w="2346873" h="0">
                  <a:moveTo>
                    <a:pt x="0" y="0"/>
                  </a:moveTo>
                  <a:lnTo>
                    <a:pt x="2346873" y="0"/>
                  </a:lnTo>
                  <a:lnTo>
                    <a:pt x="2346873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l144"/>
            <p:cNvSpPr/>
            <p:nvPr/>
          </p:nvSpPr>
          <p:spPr>
            <a:xfrm>
              <a:off x="5215504" y="4880842"/>
              <a:ext cx="2346873" cy="0"/>
            </a:xfrm>
            <a:custGeom>
              <a:avLst/>
              <a:pathLst>
                <a:path w="2346873" h="0">
                  <a:moveTo>
                    <a:pt x="0" y="0"/>
                  </a:moveTo>
                  <a:lnTo>
                    <a:pt x="2346873" y="0"/>
                  </a:lnTo>
                  <a:lnTo>
                    <a:pt x="2346873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l145"/>
            <p:cNvSpPr/>
            <p:nvPr/>
          </p:nvSpPr>
          <p:spPr>
            <a:xfrm>
              <a:off x="5215504" y="4585076"/>
              <a:ext cx="2346873" cy="0"/>
            </a:xfrm>
            <a:custGeom>
              <a:avLst/>
              <a:pathLst>
                <a:path w="2346873" h="0">
                  <a:moveTo>
                    <a:pt x="0" y="0"/>
                  </a:moveTo>
                  <a:lnTo>
                    <a:pt x="2346873" y="0"/>
                  </a:lnTo>
                  <a:lnTo>
                    <a:pt x="2346873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rc146"/>
            <p:cNvSpPr/>
            <p:nvPr/>
          </p:nvSpPr>
          <p:spPr>
            <a:xfrm>
              <a:off x="5328334" y="4764541"/>
              <a:ext cx="315925" cy="707831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8" name="rc147"/>
            <p:cNvSpPr/>
            <p:nvPr/>
          </p:nvSpPr>
          <p:spPr>
            <a:xfrm>
              <a:off x="5779656" y="4764541"/>
              <a:ext cx="315925" cy="205000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9" name="pl148"/>
            <p:cNvSpPr/>
            <p:nvPr/>
          </p:nvSpPr>
          <p:spPr>
            <a:xfrm>
              <a:off x="5644259" y="4764541"/>
              <a:ext cx="135396" cy="0"/>
            </a:xfrm>
            <a:custGeom>
              <a:avLst/>
              <a:pathLst>
                <a:path w="135396" h="0">
                  <a:moveTo>
                    <a:pt x="0" y="0"/>
                  </a:moveTo>
                  <a:lnTo>
                    <a:pt x="135396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50" name="rc149"/>
            <p:cNvSpPr/>
            <p:nvPr/>
          </p:nvSpPr>
          <p:spPr>
            <a:xfrm>
              <a:off x="6230978" y="4969542"/>
              <a:ext cx="315925" cy="166145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1" name="pl150"/>
            <p:cNvSpPr/>
            <p:nvPr/>
          </p:nvSpPr>
          <p:spPr>
            <a:xfrm>
              <a:off x="6095581" y="4969542"/>
              <a:ext cx="135396" cy="0"/>
            </a:xfrm>
            <a:custGeom>
              <a:avLst/>
              <a:pathLst>
                <a:path w="135396" h="0">
                  <a:moveTo>
                    <a:pt x="0" y="0"/>
                  </a:moveTo>
                  <a:lnTo>
                    <a:pt x="135396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52" name="rc151"/>
            <p:cNvSpPr/>
            <p:nvPr/>
          </p:nvSpPr>
          <p:spPr>
            <a:xfrm>
              <a:off x="6682300" y="5135688"/>
              <a:ext cx="315925" cy="115998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3" name="pl152"/>
            <p:cNvSpPr/>
            <p:nvPr/>
          </p:nvSpPr>
          <p:spPr>
            <a:xfrm>
              <a:off x="6546903" y="5135688"/>
              <a:ext cx="135396" cy="0"/>
            </a:xfrm>
            <a:custGeom>
              <a:avLst/>
              <a:pathLst>
                <a:path w="135396" h="0">
                  <a:moveTo>
                    <a:pt x="0" y="0"/>
                  </a:moveTo>
                  <a:lnTo>
                    <a:pt x="135396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54" name="tx153"/>
            <p:cNvSpPr/>
            <p:nvPr/>
          </p:nvSpPr>
          <p:spPr>
            <a:xfrm>
              <a:off x="5204945" y="5011845"/>
              <a:ext cx="562703" cy="1790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>
                  <a:solidFill>
                    <a:srgbClr val="FFFFFF">
                      <a:alpha val="100000"/>
                    </a:srgbClr>
                  </a:solidFill>
                  <a:latin typeface="theme_grattan"/>
                  <a:cs typeface="theme_grattan"/>
                </a:rPr>
                <a:t>$5980</a:t>
              </a:r>
            </a:p>
          </p:txBody>
        </p:sp>
        <p:sp>
          <p:nvSpPr>
            <p:cNvPr id="155" name="tx154"/>
            <p:cNvSpPr/>
            <p:nvPr/>
          </p:nvSpPr>
          <p:spPr>
            <a:xfrm>
              <a:off x="5622574" y="4760429"/>
              <a:ext cx="630089" cy="1790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>
                  <a:solidFill>
                    <a:srgbClr val="FFFFFF">
                      <a:alpha val="100000"/>
                    </a:srgbClr>
                  </a:solidFill>
                  <a:latin typeface="theme_grattan"/>
                  <a:cs typeface="theme_grattan"/>
                </a:rPr>
                <a:t>-$1730</a:t>
              </a:r>
            </a:p>
          </p:txBody>
        </p:sp>
        <p:sp>
          <p:nvSpPr>
            <p:cNvPr id="156" name="tx155"/>
            <p:cNvSpPr/>
            <p:nvPr/>
          </p:nvSpPr>
          <p:spPr>
            <a:xfrm>
              <a:off x="6073895" y="4946002"/>
              <a:ext cx="630089" cy="1790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>
                  <a:solidFill>
                    <a:srgbClr val="FFFFFF">
                      <a:alpha val="100000"/>
                    </a:srgbClr>
                  </a:solidFill>
                  <a:latin typeface="theme_grattan"/>
                  <a:cs typeface="theme_grattan"/>
                </a:rPr>
                <a:t>-$1400</a:t>
              </a:r>
            </a:p>
          </p:txBody>
        </p:sp>
        <p:sp>
          <p:nvSpPr>
            <p:cNvPr id="157" name="tx156"/>
            <p:cNvSpPr/>
            <p:nvPr/>
          </p:nvSpPr>
          <p:spPr>
            <a:xfrm>
              <a:off x="6581488" y="5087074"/>
              <a:ext cx="517549" cy="1790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>
                  <a:solidFill>
                    <a:srgbClr val="FFFFFF">
                      <a:alpha val="100000"/>
                    </a:srgbClr>
                  </a:solidFill>
                  <a:latin typeface="theme_grattan"/>
                  <a:cs typeface="theme_grattan"/>
                </a:rPr>
                <a:t>-$980</a:t>
              </a:r>
            </a:p>
          </p:txBody>
        </p:sp>
        <p:sp>
          <p:nvSpPr>
            <p:cNvPr id="158" name="rc157"/>
            <p:cNvSpPr/>
            <p:nvPr/>
          </p:nvSpPr>
          <p:spPr>
            <a:xfrm>
              <a:off x="7133621" y="5251686"/>
              <a:ext cx="315925" cy="220687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9" name="tx158"/>
            <p:cNvSpPr/>
            <p:nvPr/>
          </p:nvSpPr>
          <p:spPr>
            <a:xfrm>
              <a:off x="7010232" y="5255417"/>
              <a:ext cx="562703" cy="1790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>
                  <a:solidFill>
                    <a:srgbClr val="FFFFFF">
                      <a:alpha val="100000"/>
                    </a:srgbClr>
                  </a:solidFill>
                  <a:latin typeface="theme_grattan"/>
                  <a:cs typeface="theme_grattan"/>
                </a:rPr>
                <a:t>$1870</a:t>
              </a:r>
            </a:p>
          </p:txBody>
        </p:sp>
        <p:sp>
          <p:nvSpPr>
            <p:cNvPr id="160" name="pl159"/>
            <p:cNvSpPr/>
            <p:nvPr/>
          </p:nvSpPr>
          <p:spPr>
            <a:xfrm>
              <a:off x="6998225" y="5251686"/>
              <a:ext cx="135396" cy="0"/>
            </a:xfrm>
            <a:custGeom>
              <a:avLst/>
              <a:pathLst>
                <a:path w="135396" h="0">
                  <a:moveTo>
                    <a:pt x="0" y="0"/>
                  </a:moveTo>
                  <a:lnTo>
                    <a:pt x="135396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61" name="pg160"/>
            <p:cNvSpPr/>
            <p:nvPr/>
          </p:nvSpPr>
          <p:spPr>
            <a:xfrm>
              <a:off x="6118147" y="4737115"/>
              <a:ext cx="1444229" cy="259853"/>
            </a:xfrm>
            <a:custGeom>
              <a:avLst/>
              <a:pathLst>
                <a:path w="1444229" h="259853">
                  <a:moveTo>
                    <a:pt x="41148" y="259853"/>
                  </a:moveTo>
                  <a:lnTo>
                    <a:pt x="1444229" y="259853"/>
                  </a:lnTo>
                  <a:lnTo>
                    <a:pt x="1444229" y="0"/>
                  </a:lnTo>
                  <a:lnTo>
                    <a:pt x="41148" y="0"/>
                  </a:lnTo>
                  <a:lnTo>
                    <a:pt x="46107" y="300"/>
                  </a:lnTo>
                  <a:lnTo>
                    <a:pt x="39491" y="33"/>
                  </a:lnTo>
                  <a:lnTo>
                    <a:pt x="32917" y="831"/>
                  </a:lnTo>
                  <a:lnTo>
                    <a:pt x="26556" y="2673"/>
                  </a:lnTo>
                  <a:lnTo>
                    <a:pt x="20574" y="5512"/>
                  </a:lnTo>
                  <a:lnTo>
                    <a:pt x="15124" y="9274"/>
                  </a:lnTo>
                  <a:lnTo>
                    <a:pt x="10348" y="13861"/>
                  </a:lnTo>
                  <a:lnTo>
                    <a:pt x="6370" y="19155"/>
                  </a:lnTo>
                  <a:lnTo>
                    <a:pt x="3292" y="25019"/>
                  </a:lnTo>
                  <a:lnTo>
                    <a:pt x="1195" y="31300"/>
                  </a:lnTo>
                  <a:lnTo>
                    <a:pt x="133" y="37836"/>
                  </a:lnTo>
                  <a:lnTo>
                    <a:pt x="0" y="41148"/>
                  </a:lnTo>
                  <a:lnTo>
                    <a:pt x="0" y="218705"/>
                  </a:lnTo>
                  <a:lnTo>
                    <a:pt x="133" y="215394"/>
                  </a:lnTo>
                  <a:lnTo>
                    <a:pt x="133" y="222016"/>
                  </a:lnTo>
                  <a:lnTo>
                    <a:pt x="1195" y="228553"/>
                  </a:lnTo>
                  <a:lnTo>
                    <a:pt x="3292" y="234834"/>
                  </a:lnTo>
                  <a:lnTo>
                    <a:pt x="6370" y="240698"/>
                  </a:lnTo>
                  <a:lnTo>
                    <a:pt x="10348" y="245992"/>
                  </a:lnTo>
                  <a:lnTo>
                    <a:pt x="15124" y="250579"/>
                  </a:lnTo>
                  <a:lnTo>
                    <a:pt x="20574" y="254341"/>
                  </a:lnTo>
                  <a:lnTo>
                    <a:pt x="26556" y="257179"/>
                  </a:lnTo>
                  <a:lnTo>
                    <a:pt x="32917" y="259022"/>
                  </a:lnTo>
                  <a:lnTo>
                    <a:pt x="39491" y="25982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2" name="tx161"/>
            <p:cNvSpPr/>
            <p:nvPr/>
          </p:nvSpPr>
          <p:spPr>
            <a:xfrm>
              <a:off x="6136435" y="4779642"/>
              <a:ext cx="1613706" cy="1692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Arial"/>
                  <a:cs typeface="Arial"/>
                </a:rPr>
                <a:t>Switch to an EV</a:t>
              </a:r>
            </a:p>
          </p:txBody>
        </p:sp>
        <p:sp>
          <p:nvSpPr>
            <p:cNvPr id="163" name="pg162"/>
            <p:cNvSpPr/>
            <p:nvPr/>
          </p:nvSpPr>
          <p:spPr>
            <a:xfrm>
              <a:off x="6569469" y="4922688"/>
              <a:ext cx="992907" cy="259853"/>
            </a:xfrm>
            <a:custGeom>
              <a:avLst/>
              <a:pathLst>
                <a:path w="992907" h="259853">
                  <a:moveTo>
                    <a:pt x="41148" y="259853"/>
                  </a:moveTo>
                  <a:lnTo>
                    <a:pt x="992907" y="259853"/>
                  </a:lnTo>
                  <a:lnTo>
                    <a:pt x="992907" y="0"/>
                  </a:lnTo>
                  <a:lnTo>
                    <a:pt x="41148" y="0"/>
                  </a:lnTo>
                  <a:lnTo>
                    <a:pt x="46107" y="300"/>
                  </a:lnTo>
                  <a:lnTo>
                    <a:pt x="39491" y="33"/>
                  </a:lnTo>
                  <a:lnTo>
                    <a:pt x="32917" y="831"/>
                  </a:lnTo>
                  <a:lnTo>
                    <a:pt x="26556" y="2673"/>
                  </a:lnTo>
                  <a:lnTo>
                    <a:pt x="20573" y="5512"/>
                  </a:lnTo>
                  <a:lnTo>
                    <a:pt x="15124" y="9274"/>
                  </a:lnTo>
                  <a:lnTo>
                    <a:pt x="10348" y="13861"/>
                  </a:lnTo>
                  <a:lnTo>
                    <a:pt x="6370" y="19155"/>
                  </a:lnTo>
                  <a:lnTo>
                    <a:pt x="3292" y="25019"/>
                  </a:lnTo>
                  <a:lnTo>
                    <a:pt x="1195" y="31300"/>
                  </a:lnTo>
                  <a:lnTo>
                    <a:pt x="133" y="37836"/>
                  </a:lnTo>
                  <a:lnTo>
                    <a:pt x="0" y="41148"/>
                  </a:lnTo>
                  <a:lnTo>
                    <a:pt x="0" y="218705"/>
                  </a:lnTo>
                  <a:lnTo>
                    <a:pt x="133" y="215394"/>
                  </a:lnTo>
                  <a:lnTo>
                    <a:pt x="133" y="222016"/>
                  </a:lnTo>
                  <a:lnTo>
                    <a:pt x="1195" y="228553"/>
                  </a:lnTo>
                  <a:lnTo>
                    <a:pt x="3292" y="234834"/>
                  </a:lnTo>
                  <a:lnTo>
                    <a:pt x="6370" y="240698"/>
                  </a:lnTo>
                  <a:lnTo>
                    <a:pt x="10348" y="245992"/>
                  </a:lnTo>
                  <a:lnTo>
                    <a:pt x="15124" y="250579"/>
                  </a:lnTo>
                  <a:lnTo>
                    <a:pt x="20573" y="254341"/>
                  </a:lnTo>
                  <a:lnTo>
                    <a:pt x="26556" y="257179"/>
                  </a:lnTo>
                  <a:lnTo>
                    <a:pt x="32917" y="259022"/>
                  </a:lnTo>
                  <a:lnTo>
                    <a:pt x="39491" y="25982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4" name="tx163"/>
            <p:cNvSpPr/>
            <p:nvPr/>
          </p:nvSpPr>
          <p:spPr>
            <a:xfrm>
              <a:off x="6587757" y="4968118"/>
              <a:ext cx="1156171" cy="1663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Arial"/>
                  <a:cs typeface="Arial"/>
                </a:rPr>
                <a:t>Install solar</a:t>
              </a:r>
            </a:p>
          </p:txBody>
        </p:sp>
        <p:sp>
          <p:nvSpPr>
            <p:cNvPr id="165" name="pg164"/>
            <p:cNvSpPr/>
            <p:nvPr/>
          </p:nvSpPr>
          <p:spPr>
            <a:xfrm>
              <a:off x="7020791" y="5063760"/>
              <a:ext cx="541586" cy="259853"/>
            </a:xfrm>
            <a:custGeom>
              <a:avLst/>
              <a:pathLst>
                <a:path w="541586" h="259853">
                  <a:moveTo>
                    <a:pt x="41148" y="259853"/>
                  </a:moveTo>
                  <a:lnTo>
                    <a:pt x="541586" y="259853"/>
                  </a:lnTo>
                  <a:lnTo>
                    <a:pt x="541586" y="0"/>
                  </a:lnTo>
                  <a:lnTo>
                    <a:pt x="41148" y="0"/>
                  </a:lnTo>
                  <a:lnTo>
                    <a:pt x="46107" y="300"/>
                  </a:lnTo>
                  <a:lnTo>
                    <a:pt x="39491" y="33"/>
                  </a:lnTo>
                  <a:lnTo>
                    <a:pt x="32917" y="831"/>
                  </a:lnTo>
                  <a:lnTo>
                    <a:pt x="26556" y="2673"/>
                  </a:lnTo>
                  <a:lnTo>
                    <a:pt x="20574" y="5512"/>
                  </a:lnTo>
                  <a:lnTo>
                    <a:pt x="15124" y="9274"/>
                  </a:lnTo>
                  <a:lnTo>
                    <a:pt x="10348" y="13861"/>
                  </a:lnTo>
                  <a:lnTo>
                    <a:pt x="6370" y="19155"/>
                  </a:lnTo>
                  <a:lnTo>
                    <a:pt x="3292" y="25019"/>
                  </a:lnTo>
                  <a:lnTo>
                    <a:pt x="1195" y="31300"/>
                  </a:lnTo>
                  <a:lnTo>
                    <a:pt x="133" y="37836"/>
                  </a:lnTo>
                  <a:lnTo>
                    <a:pt x="0" y="41148"/>
                  </a:lnTo>
                  <a:lnTo>
                    <a:pt x="0" y="218705"/>
                  </a:lnTo>
                  <a:lnTo>
                    <a:pt x="133" y="215394"/>
                  </a:lnTo>
                  <a:lnTo>
                    <a:pt x="133" y="222016"/>
                  </a:lnTo>
                  <a:lnTo>
                    <a:pt x="1195" y="228553"/>
                  </a:lnTo>
                  <a:lnTo>
                    <a:pt x="3292" y="234834"/>
                  </a:lnTo>
                  <a:lnTo>
                    <a:pt x="6370" y="240698"/>
                  </a:lnTo>
                  <a:lnTo>
                    <a:pt x="10348" y="245992"/>
                  </a:lnTo>
                  <a:lnTo>
                    <a:pt x="15124" y="250579"/>
                  </a:lnTo>
                  <a:lnTo>
                    <a:pt x="20574" y="254341"/>
                  </a:lnTo>
                  <a:lnTo>
                    <a:pt x="26556" y="257179"/>
                  </a:lnTo>
                  <a:lnTo>
                    <a:pt x="32917" y="259022"/>
                  </a:lnTo>
                  <a:lnTo>
                    <a:pt x="39491" y="25982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6" name="tx165"/>
            <p:cNvSpPr/>
            <p:nvPr/>
          </p:nvSpPr>
          <p:spPr>
            <a:xfrm>
              <a:off x="7039079" y="5060969"/>
              <a:ext cx="1245021" cy="2145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Arial"/>
                  <a:cs typeface="Arial"/>
                </a:rPr>
                <a:t>Electrify gas</a:t>
              </a:r>
            </a:p>
          </p:txBody>
        </p:sp>
        <p:sp>
          <p:nvSpPr>
            <p:cNvPr id="167" name="pl166"/>
            <p:cNvSpPr/>
            <p:nvPr/>
          </p:nvSpPr>
          <p:spPr>
            <a:xfrm>
              <a:off x="5215504" y="5472373"/>
              <a:ext cx="2346873" cy="0"/>
            </a:xfrm>
            <a:custGeom>
              <a:avLst/>
              <a:pathLst>
                <a:path w="2346873" h="0">
                  <a:moveTo>
                    <a:pt x="0" y="0"/>
                  </a:moveTo>
                  <a:lnTo>
                    <a:pt x="2346873" y="0"/>
                  </a:lnTo>
                </a:path>
              </a:pathLst>
            </a:custGeom>
            <a:ln w="952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l167"/>
            <p:cNvSpPr/>
            <p:nvPr/>
          </p:nvSpPr>
          <p:spPr>
            <a:xfrm>
              <a:off x="5486297" y="5472373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l168"/>
            <p:cNvSpPr/>
            <p:nvPr/>
          </p:nvSpPr>
          <p:spPr>
            <a:xfrm>
              <a:off x="7291584" y="5472373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tx169"/>
            <p:cNvSpPr/>
            <p:nvPr/>
          </p:nvSpPr>
          <p:spPr>
            <a:xfrm>
              <a:off x="4654106" y="5569389"/>
              <a:ext cx="1664382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Fossil fuel home</a:t>
              </a:r>
            </a:p>
          </p:txBody>
        </p:sp>
        <p:sp>
          <p:nvSpPr>
            <p:cNvPr id="171" name="tx170"/>
            <p:cNvSpPr/>
            <p:nvPr/>
          </p:nvSpPr>
          <p:spPr>
            <a:xfrm>
              <a:off x="6211650" y="5523959"/>
              <a:ext cx="2159868" cy="2145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Fully electrified home</a:t>
              </a:r>
            </a:p>
          </p:txBody>
        </p:sp>
        <p:sp>
          <p:nvSpPr>
            <p:cNvPr id="172" name="tx171"/>
            <p:cNvSpPr/>
            <p:nvPr/>
          </p:nvSpPr>
          <p:spPr>
            <a:xfrm>
              <a:off x="6207973" y="4075165"/>
              <a:ext cx="304998" cy="1478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6A737B">
                      <a:alpha val="100000"/>
                    </a:srgbClr>
                  </a:solidFill>
                  <a:latin typeface="Arial"/>
                  <a:cs typeface="Arial"/>
                </a:rPr>
                <a:t>Vic</a:t>
              </a:r>
            </a:p>
          </p:txBody>
        </p:sp>
      </p:grpSp>
      <p:sp>
        <p:nvSpPr>
          <p:cNvPr id="173" name="Title 1"/>
          <p:cNvSpPr>
            <a:spLocks noGrp="1"/>
          </p:cNvSpPr>
          <p:nvPr>
            <p:ph type="title" hasCustomPrompt="1"/>
          </p:nvPr>
        </p:nvSpPr>
        <p:spPr>
          <a:xfrm>
            <a:off x="385482" y="367368"/>
            <a:ext cx="9637060" cy="540145"/>
          </a:xfrm>
        </p:spPr>
        <p:txBody>
          <a:bodyPr/>
          <a:lstStyle/>
          <a:p>
            <a:r>
              <a:rPr/>
              <a:t>Households in every state can access large savings from electrification</a:t>
            </a:r>
          </a:p>
        </p:txBody>
      </p:sp>
      <p:sp>
        <p:nvSpPr>
          <p:cNvPr id="174" name="Caption Placeholder 1"/>
          <p:cNvSpPr>
            <a:spLocks noGrp="1"/>
          </p:cNvSpPr>
          <p:nvPr>
            <p:ph type="body" sz="quarter" idx="11" hasCustomPrompt="1"/>
          </p:nvPr>
        </p:nvSpPr>
        <p:spPr>
          <a:xfrm>
            <a:off x="371475" y="6239781"/>
            <a:ext cx="10662320" cy="455613"/>
          </a:xfrm>
        </p:spPr>
        <p:txBody>
          <a:bodyPr/>
          <a:lstStyle/>
          <a:p>
            <a:r>
              <a:rPr/>
              <a:t>Notes: 
Source: Grattan Institute analaysis see app 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2022 Grattan PPT Colour Theme - FINAL">
      <a:dk1>
        <a:srgbClr val="000000"/>
      </a:dk1>
      <a:lt1>
        <a:srgbClr val="FFFFFF"/>
      </a:lt1>
      <a:dk2>
        <a:srgbClr val="D4582A"/>
      </a:dk2>
      <a:lt2>
        <a:srgbClr val="FFF3E6"/>
      </a:lt2>
      <a:accent1>
        <a:srgbClr val="EF7900"/>
      </a:accent1>
      <a:accent2>
        <a:srgbClr val="A1253E"/>
      </a:accent2>
      <a:accent3>
        <a:srgbClr val="611633"/>
      </a:accent3>
      <a:accent4>
        <a:srgbClr val="F5B50C"/>
      </a:accent4>
      <a:accent5>
        <a:srgbClr val="6A99C4"/>
      </a:accent5>
      <a:accent6>
        <a:srgbClr val="4371A1"/>
      </a:accent6>
      <a:hlink>
        <a:srgbClr val="EF7900"/>
      </a:hlink>
      <a:folHlink>
        <a:srgbClr val="D4582A"/>
      </a:folHlink>
    </a:clrScheme>
    <a:fontScheme name="Grattan Web Fonts">
      <a:majorFont>
        <a:latin typeface="DM Serif Display"/>
        <a:ea typeface=""/>
        <a:cs typeface=""/>
      </a:majorFont>
      <a:minorFont>
        <a:latin typeface="Avenir Next LT Pro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 anchor="ctr">
        <a:normAutofit/>
      </a:bodyPr>
      <a:lstStyle>
        <a:defPPr algn="l">
          <a:defRPr sz="1600" dirty="0">
            <a:solidFill>
              <a:schemeClr val="accent1"/>
            </a:solidFill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8876</TotalTime>
  <Words>0</Words>
  <Application>Microsoft Macintosh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5" baseType="lpstr">
      <vt:lpstr>Arial</vt:lpstr>
      <vt:lpstr>Avenir Next LT Pro</vt:lpstr>
      <vt:lpstr>Calibri</vt:lpstr>
      <vt:lpstr>DM Serif Display</vt:lpstr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Insert title</dc:title>
  <dc:creator>Kat Clay</dc:creator>
  <cp:lastModifiedBy/>
  <cp:revision>269</cp:revision>
  <dcterms:created xsi:type="dcterms:W3CDTF">2022-05-20T01:54:03Z</dcterms:created>
  <dcterms:modified xsi:type="dcterms:W3CDTF">2025-07-14T13:58:04Z</dcterms:modified>
</cp:coreProperties>
</file>